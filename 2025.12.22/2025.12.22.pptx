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6" r:id="rId5"/>
    <p:sldId id="259" r:id="rId6"/>
    <p:sldId id="260" r:id="rId7"/>
    <p:sldId id="261" r:id="rId8"/>
    <p:sldId id="262" r:id="rId9"/>
    <p:sldId id="263" r:id="rId10"/>
    <p:sldId id="264" r:id="rId11"/>
    <p:sldId id="265" r:id="rId12"/>
  </p:sldIdLst>
  <p:sldSz cx="12192000" cy="6858000"/>
  <p:notesSz cx="6858000" cy="9144000"/>
  <p:custDataLst>
    <p:tags r:id="rId13"/>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2" d="100"/>
          <a:sy n="102" d="100"/>
        </p:scale>
        <p:origin x="108" y="1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gs" Target="tags/tag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2B4EF11-167E-4037-86A9-6D7DBB6C02BD}"/>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FB62CBE8-3286-4517-9540-6EBA7758EFD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800E9F21-9850-422E-BEAC-2B948F81F8B0}"/>
              </a:ext>
            </a:extLst>
          </p:cNvPr>
          <p:cNvSpPr>
            <a:spLocks noGrp="1"/>
          </p:cNvSpPr>
          <p:nvPr>
            <p:ph type="dt" sz="half" idx="10"/>
          </p:nvPr>
        </p:nvSpPr>
        <p:spPr/>
        <p:txBody>
          <a:bodyPr/>
          <a:lstStyle/>
          <a:p>
            <a:fld id="{C21D6509-5E71-4CDE-8E68-43129F11364D}" type="datetimeFigureOut">
              <a:rPr lang="zh-CN" altLang="en-US" smtClean="0"/>
              <a:t>2025/12/17</a:t>
            </a:fld>
            <a:endParaRPr lang="zh-CN" altLang="en-US"/>
          </a:p>
        </p:txBody>
      </p:sp>
      <p:sp>
        <p:nvSpPr>
          <p:cNvPr id="5" name="页脚占位符 4">
            <a:extLst>
              <a:ext uri="{FF2B5EF4-FFF2-40B4-BE49-F238E27FC236}">
                <a16:creationId xmlns:a16="http://schemas.microsoft.com/office/drawing/2014/main" id="{5C8B2F40-047B-4D42-9EEF-467FFB22B2C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E2C0162-64FD-4DE3-BD6C-68EA43CD3A1D}"/>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20785694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990B58C-FE28-4DAD-9B63-BC9E0973745A}"/>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F97F6A12-E1A1-410E-A398-F719E1565A4C}"/>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E9D95B4-F506-4629-9643-7D99EC989048}"/>
              </a:ext>
            </a:extLst>
          </p:cNvPr>
          <p:cNvSpPr>
            <a:spLocks noGrp="1"/>
          </p:cNvSpPr>
          <p:nvPr>
            <p:ph type="dt" sz="half" idx="10"/>
          </p:nvPr>
        </p:nvSpPr>
        <p:spPr/>
        <p:txBody>
          <a:bodyPr/>
          <a:lstStyle/>
          <a:p>
            <a:fld id="{C21D6509-5E71-4CDE-8E68-43129F11364D}" type="datetimeFigureOut">
              <a:rPr lang="zh-CN" altLang="en-US" smtClean="0"/>
              <a:t>2025/12/17</a:t>
            </a:fld>
            <a:endParaRPr lang="zh-CN" altLang="en-US"/>
          </a:p>
        </p:txBody>
      </p:sp>
      <p:sp>
        <p:nvSpPr>
          <p:cNvPr id="5" name="页脚占位符 4">
            <a:extLst>
              <a:ext uri="{FF2B5EF4-FFF2-40B4-BE49-F238E27FC236}">
                <a16:creationId xmlns:a16="http://schemas.microsoft.com/office/drawing/2014/main" id="{61296699-AE73-4BF8-873D-1D0D7A0FC424}"/>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A0795D4-A971-495F-949A-AD49E1729029}"/>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14317463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A4866E6-0693-4588-8DD5-65CE760214FB}"/>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3725E6BB-41ED-4B11-941A-AAEFDFD0FB7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504B75BE-1DB0-48A1-A813-E90135BFB441}"/>
              </a:ext>
            </a:extLst>
          </p:cNvPr>
          <p:cNvSpPr>
            <a:spLocks noGrp="1"/>
          </p:cNvSpPr>
          <p:nvPr>
            <p:ph type="dt" sz="half" idx="10"/>
          </p:nvPr>
        </p:nvSpPr>
        <p:spPr/>
        <p:txBody>
          <a:bodyPr/>
          <a:lstStyle/>
          <a:p>
            <a:fld id="{C21D6509-5E71-4CDE-8E68-43129F11364D}" type="datetimeFigureOut">
              <a:rPr lang="zh-CN" altLang="en-US" smtClean="0"/>
              <a:t>2025/12/17</a:t>
            </a:fld>
            <a:endParaRPr lang="zh-CN" altLang="en-US"/>
          </a:p>
        </p:txBody>
      </p:sp>
      <p:sp>
        <p:nvSpPr>
          <p:cNvPr id="5" name="页脚占位符 4">
            <a:extLst>
              <a:ext uri="{FF2B5EF4-FFF2-40B4-BE49-F238E27FC236}">
                <a16:creationId xmlns:a16="http://schemas.microsoft.com/office/drawing/2014/main" id="{577FF559-DB6A-4B52-942D-A4531054F00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52F66FC-296D-4994-A0EA-6B06F8B390F9}"/>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26586466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72391D-8AC8-492D-B5FF-738BCB3C5764}"/>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BBEEDE19-AE76-4864-95BF-3DD92D176972}"/>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6A531224-47D4-4E72-8CDF-1C004AAB39E9}"/>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9ADA2DEB-E680-4F63-94B4-FABA0E8B40F7}"/>
              </a:ext>
            </a:extLst>
          </p:cNvPr>
          <p:cNvSpPr>
            <a:spLocks noGrp="1"/>
          </p:cNvSpPr>
          <p:nvPr>
            <p:ph type="dt" sz="half" idx="10"/>
          </p:nvPr>
        </p:nvSpPr>
        <p:spPr/>
        <p:txBody>
          <a:bodyPr/>
          <a:lstStyle/>
          <a:p>
            <a:fld id="{C21D6509-5E71-4CDE-8E68-43129F11364D}" type="datetimeFigureOut">
              <a:rPr lang="zh-CN" altLang="en-US" smtClean="0"/>
              <a:t>2025/12/17</a:t>
            </a:fld>
            <a:endParaRPr lang="zh-CN" altLang="en-US"/>
          </a:p>
        </p:txBody>
      </p:sp>
      <p:sp>
        <p:nvSpPr>
          <p:cNvPr id="6" name="页脚占位符 5">
            <a:extLst>
              <a:ext uri="{FF2B5EF4-FFF2-40B4-BE49-F238E27FC236}">
                <a16:creationId xmlns:a16="http://schemas.microsoft.com/office/drawing/2014/main" id="{7D4238AE-AD33-425E-AD0E-250FA2EF795E}"/>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72F673D5-A66D-4495-B067-04EE732364ED}"/>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33145322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9250BFE-4FBF-460F-99F5-D8B11F271388}"/>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A77036C3-044B-4921-A70F-BFDFD682587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BC50FE52-32A0-4686-88E6-6CA42CA5B042}"/>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E563F663-5B65-4901-A3BC-75BB0C80D27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F3366B19-9CBB-4F65-BE27-D3518487694A}"/>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92DDDEC0-ACD8-4518-A0CB-99ACDC7C3B9A}"/>
              </a:ext>
            </a:extLst>
          </p:cNvPr>
          <p:cNvSpPr>
            <a:spLocks noGrp="1"/>
          </p:cNvSpPr>
          <p:nvPr>
            <p:ph type="dt" sz="half" idx="10"/>
          </p:nvPr>
        </p:nvSpPr>
        <p:spPr/>
        <p:txBody>
          <a:bodyPr/>
          <a:lstStyle/>
          <a:p>
            <a:fld id="{C21D6509-5E71-4CDE-8E68-43129F11364D}" type="datetimeFigureOut">
              <a:rPr lang="zh-CN" altLang="en-US" smtClean="0"/>
              <a:t>2025/12/17</a:t>
            </a:fld>
            <a:endParaRPr lang="zh-CN" altLang="en-US"/>
          </a:p>
        </p:txBody>
      </p:sp>
      <p:sp>
        <p:nvSpPr>
          <p:cNvPr id="8" name="页脚占位符 7">
            <a:extLst>
              <a:ext uri="{FF2B5EF4-FFF2-40B4-BE49-F238E27FC236}">
                <a16:creationId xmlns:a16="http://schemas.microsoft.com/office/drawing/2014/main" id="{76DD7D72-60C7-4EDF-8E65-871B0CF8D4B4}"/>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C4C6E26-4ED9-4A46-96D5-10DD7501ACE1}"/>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7837948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82ED31-6457-4D79-8A25-78DFC77CA9A2}"/>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996D7160-5A9B-4595-B758-785C2A3CEDC6}"/>
              </a:ext>
            </a:extLst>
          </p:cNvPr>
          <p:cNvSpPr>
            <a:spLocks noGrp="1"/>
          </p:cNvSpPr>
          <p:nvPr>
            <p:ph type="dt" sz="half" idx="10"/>
          </p:nvPr>
        </p:nvSpPr>
        <p:spPr/>
        <p:txBody>
          <a:bodyPr/>
          <a:lstStyle/>
          <a:p>
            <a:fld id="{C21D6509-5E71-4CDE-8E68-43129F11364D}" type="datetimeFigureOut">
              <a:rPr lang="zh-CN" altLang="en-US" smtClean="0"/>
              <a:t>2025/12/17</a:t>
            </a:fld>
            <a:endParaRPr lang="zh-CN" altLang="en-US"/>
          </a:p>
        </p:txBody>
      </p:sp>
      <p:sp>
        <p:nvSpPr>
          <p:cNvPr id="4" name="页脚占位符 3">
            <a:extLst>
              <a:ext uri="{FF2B5EF4-FFF2-40B4-BE49-F238E27FC236}">
                <a16:creationId xmlns:a16="http://schemas.microsoft.com/office/drawing/2014/main" id="{028855A2-3425-4970-ABA1-CD9E7F23F5B3}"/>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6190B0DF-600C-412F-801F-3226B2C9EE4B}"/>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33254869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6E838641-EDCA-424A-8635-B3D76A7A88C8}"/>
              </a:ext>
            </a:extLst>
          </p:cNvPr>
          <p:cNvSpPr>
            <a:spLocks noGrp="1"/>
          </p:cNvSpPr>
          <p:nvPr>
            <p:ph type="dt" sz="half" idx="10"/>
          </p:nvPr>
        </p:nvSpPr>
        <p:spPr/>
        <p:txBody>
          <a:bodyPr/>
          <a:lstStyle/>
          <a:p>
            <a:fld id="{C21D6509-5E71-4CDE-8E68-43129F11364D}" type="datetimeFigureOut">
              <a:rPr lang="zh-CN" altLang="en-US" smtClean="0"/>
              <a:t>2025/12/17</a:t>
            </a:fld>
            <a:endParaRPr lang="zh-CN" altLang="en-US"/>
          </a:p>
        </p:txBody>
      </p:sp>
      <p:sp>
        <p:nvSpPr>
          <p:cNvPr id="3" name="页脚占位符 2">
            <a:extLst>
              <a:ext uri="{FF2B5EF4-FFF2-40B4-BE49-F238E27FC236}">
                <a16:creationId xmlns:a16="http://schemas.microsoft.com/office/drawing/2014/main" id="{EDDD02D4-0635-48CA-BBD8-A158604A93EC}"/>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D5B2F8F8-45E5-4F02-8B2C-CC4FE5A86966}"/>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31179535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FE6D95-7AD5-4E2B-8548-62AB9DA797D3}"/>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7FE02AC0-BEE1-4B61-9FDF-9ECFE71BE8A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99CBED21-DBD0-4717-829F-CA96CA4D2F8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2BECF54B-A4C6-402E-B0BF-350C3B489E76}"/>
              </a:ext>
            </a:extLst>
          </p:cNvPr>
          <p:cNvSpPr>
            <a:spLocks noGrp="1"/>
          </p:cNvSpPr>
          <p:nvPr>
            <p:ph type="dt" sz="half" idx="10"/>
          </p:nvPr>
        </p:nvSpPr>
        <p:spPr/>
        <p:txBody>
          <a:bodyPr/>
          <a:lstStyle/>
          <a:p>
            <a:fld id="{C21D6509-5E71-4CDE-8E68-43129F11364D}" type="datetimeFigureOut">
              <a:rPr lang="zh-CN" altLang="en-US" smtClean="0"/>
              <a:t>2025/12/17</a:t>
            </a:fld>
            <a:endParaRPr lang="zh-CN" altLang="en-US"/>
          </a:p>
        </p:txBody>
      </p:sp>
      <p:sp>
        <p:nvSpPr>
          <p:cNvPr id="6" name="页脚占位符 5">
            <a:extLst>
              <a:ext uri="{FF2B5EF4-FFF2-40B4-BE49-F238E27FC236}">
                <a16:creationId xmlns:a16="http://schemas.microsoft.com/office/drawing/2014/main" id="{3A4E5CE6-48D0-44C1-9578-7B69A1FEB36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85B727BA-2EAD-4422-BFA6-CA0A3486986A}"/>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10437013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7CFD55-D2E0-4822-B273-449F1FE5E7CD}"/>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CE6DA52E-79D5-4A12-82B5-42A7D6DFD66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F3F7BAAA-2517-4C62-8540-F5E7CB6A90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D397AF36-75E8-4771-9B8B-1691D2D85E67}"/>
              </a:ext>
            </a:extLst>
          </p:cNvPr>
          <p:cNvSpPr>
            <a:spLocks noGrp="1"/>
          </p:cNvSpPr>
          <p:nvPr>
            <p:ph type="dt" sz="half" idx="10"/>
          </p:nvPr>
        </p:nvSpPr>
        <p:spPr/>
        <p:txBody>
          <a:bodyPr/>
          <a:lstStyle/>
          <a:p>
            <a:fld id="{C21D6509-5E71-4CDE-8E68-43129F11364D}" type="datetimeFigureOut">
              <a:rPr lang="zh-CN" altLang="en-US" smtClean="0"/>
              <a:t>2025/12/17</a:t>
            </a:fld>
            <a:endParaRPr lang="zh-CN" altLang="en-US"/>
          </a:p>
        </p:txBody>
      </p:sp>
      <p:sp>
        <p:nvSpPr>
          <p:cNvPr id="6" name="页脚占位符 5">
            <a:extLst>
              <a:ext uri="{FF2B5EF4-FFF2-40B4-BE49-F238E27FC236}">
                <a16:creationId xmlns:a16="http://schemas.microsoft.com/office/drawing/2014/main" id="{36FEEB55-6D67-4851-8A08-72C49E38CD51}"/>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F99E9F36-C556-403D-A049-57504A693284}"/>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31419564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B3DF244-32FC-45A1-88BB-B828184241BD}"/>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2FBEBAFF-B71E-4F72-8CC5-A33615435F22}"/>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BAD69BCE-E9C4-47F5-95D1-4601597678D4}"/>
              </a:ext>
            </a:extLst>
          </p:cNvPr>
          <p:cNvSpPr>
            <a:spLocks noGrp="1"/>
          </p:cNvSpPr>
          <p:nvPr>
            <p:ph type="dt" sz="half" idx="10"/>
          </p:nvPr>
        </p:nvSpPr>
        <p:spPr/>
        <p:txBody>
          <a:bodyPr/>
          <a:lstStyle/>
          <a:p>
            <a:fld id="{C21D6509-5E71-4CDE-8E68-43129F11364D}" type="datetimeFigureOut">
              <a:rPr lang="zh-CN" altLang="en-US" smtClean="0"/>
              <a:t>2025/12/17</a:t>
            </a:fld>
            <a:endParaRPr lang="zh-CN" altLang="en-US"/>
          </a:p>
        </p:txBody>
      </p:sp>
      <p:sp>
        <p:nvSpPr>
          <p:cNvPr id="5" name="页脚占位符 4">
            <a:extLst>
              <a:ext uri="{FF2B5EF4-FFF2-40B4-BE49-F238E27FC236}">
                <a16:creationId xmlns:a16="http://schemas.microsoft.com/office/drawing/2014/main" id="{E6C050D8-A66D-4BD6-A609-167617F98F7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DB232F43-8FEC-4E69-9ECD-E1B729A47D8C}"/>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17171248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49BE20D8-4466-4A14-97DB-862BA593DD75}"/>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322F4530-3776-4F39-868E-98822BBB8248}"/>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5E87D5D-A915-40D0-A306-187FC65DB90C}"/>
              </a:ext>
            </a:extLst>
          </p:cNvPr>
          <p:cNvSpPr>
            <a:spLocks noGrp="1"/>
          </p:cNvSpPr>
          <p:nvPr>
            <p:ph type="dt" sz="half" idx="10"/>
          </p:nvPr>
        </p:nvSpPr>
        <p:spPr/>
        <p:txBody>
          <a:bodyPr/>
          <a:lstStyle/>
          <a:p>
            <a:fld id="{C21D6509-5E71-4CDE-8E68-43129F11364D}" type="datetimeFigureOut">
              <a:rPr lang="zh-CN" altLang="en-US" smtClean="0"/>
              <a:t>2025/12/17</a:t>
            </a:fld>
            <a:endParaRPr lang="zh-CN" altLang="en-US"/>
          </a:p>
        </p:txBody>
      </p:sp>
      <p:sp>
        <p:nvSpPr>
          <p:cNvPr id="5" name="页脚占位符 4">
            <a:extLst>
              <a:ext uri="{FF2B5EF4-FFF2-40B4-BE49-F238E27FC236}">
                <a16:creationId xmlns:a16="http://schemas.microsoft.com/office/drawing/2014/main" id="{A1067228-BD59-46B4-B235-D2C1F653FCC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4698E79-B7F7-44D1-9260-65C2458AD71F}"/>
              </a:ext>
            </a:extLst>
          </p:cNvPr>
          <p:cNvSpPr>
            <a:spLocks noGrp="1"/>
          </p:cNvSpPr>
          <p:nvPr>
            <p:ph type="sldNum" sz="quarter" idx="12"/>
          </p:nvPr>
        </p:nvSpPr>
        <p:spPr/>
        <p:txBody>
          <a:body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40862790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61EC4C4F-DFB3-4EBB-A21A-1D1DBB9D1FC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6B892DB9-DACD-4251-AE72-FEB88F9EE1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3240D26B-ACED-4112-93F1-4CB85D2B069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21D6509-5E71-4CDE-8E68-43129F11364D}" type="datetimeFigureOut">
              <a:rPr lang="zh-CN" altLang="en-US" smtClean="0"/>
              <a:t>2025/12/17</a:t>
            </a:fld>
            <a:endParaRPr lang="zh-CN" altLang="en-US"/>
          </a:p>
        </p:txBody>
      </p:sp>
      <p:sp>
        <p:nvSpPr>
          <p:cNvPr id="5" name="页脚占位符 4">
            <a:extLst>
              <a:ext uri="{FF2B5EF4-FFF2-40B4-BE49-F238E27FC236}">
                <a16:creationId xmlns:a16="http://schemas.microsoft.com/office/drawing/2014/main" id="{34932229-C48D-4A41-A038-22CB61D6AED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5A800C01-33BE-4D92-8B4E-37B48F0A57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7540509-F12A-4963-A33F-4926A61FF2F3}" type="slidenum">
              <a:rPr lang="zh-CN" altLang="en-US" smtClean="0"/>
              <a:t>‹#›</a:t>
            </a:fld>
            <a:endParaRPr lang="zh-CN" altLang="en-US"/>
          </a:p>
        </p:txBody>
      </p:sp>
    </p:spTree>
    <p:extLst>
      <p:ext uri="{BB962C8B-B14F-4D97-AF65-F5344CB8AC3E}">
        <p14:creationId xmlns:p14="http://schemas.microsoft.com/office/powerpoint/2010/main" val="474853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B92B96-E4E1-4C1E-A3DA-4100E52365E7}"/>
              </a:ext>
            </a:extLst>
          </p:cNvPr>
          <p:cNvSpPr>
            <a:spLocks noGrp="1"/>
          </p:cNvSpPr>
          <p:nvPr>
            <p:ph type="ctrTitle"/>
          </p:nvPr>
        </p:nvSpPr>
        <p:spPr>
          <a:xfrm>
            <a:off x="1524000" y="1122363"/>
            <a:ext cx="9144000" cy="875538"/>
          </a:xfrm>
        </p:spPr>
        <p:txBody>
          <a:bodyPr>
            <a:normAutofit/>
          </a:bodyPr>
          <a:lstStyle/>
          <a:p>
            <a:r>
              <a:rPr lang="zh-CN" altLang="en-US" sz="3200" dirty="0"/>
              <a:t>基于深度学习的无镜头成像与图像重建技术研究</a:t>
            </a:r>
          </a:p>
        </p:txBody>
      </p:sp>
      <p:sp>
        <p:nvSpPr>
          <p:cNvPr id="3" name="副标题 2">
            <a:extLst>
              <a:ext uri="{FF2B5EF4-FFF2-40B4-BE49-F238E27FC236}">
                <a16:creationId xmlns:a16="http://schemas.microsoft.com/office/drawing/2014/main" id="{A5E3F587-B19C-4A19-AAE5-73BCB1DE3C7D}"/>
              </a:ext>
            </a:extLst>
          </p:cNvPr>
          <p:cNvSpPr>
            <a:spLocks noGrp="1"/>
          </p:cNvSpPr>
          <p:nvPr>
            <p:ph type="subTitle" idx="1"/>
          </p:nvPr>
        </p:nvSpPr>
        <p:spPr/>
        <p:txBody>
          <a:bodyPr/>
          <a:lstStyle/>
          <a:p>
            <a:endParaRPr lang="zh-CN" altLang="en-US" dirty="0"/>
          </a:p>
        </p:txBody>
      </p:sp>
    </p:spTree>
    <p:extLst>
      <p:ext uri="{BB962C8B-B14F-4D97-AF65-F5344CB8AC3E}">
        <p14:creationId xmlns:p14="http://schemas.microsoft.com/office/powerpoint/2010/main" val="6679104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8EA5B55-EAE5-455B-9282-D2DE49869192}"/>
              </a:ext>
            </a:extLst>
          </p:cNvPr>
          <p:cNvSpPr>
            <a:spLocks noGrp="1"/>
          </p:cNvSpPr>
          <p:nvPr>
            <p:ph type="title"/>
          </p:nvPr>
        </p:nvSpPr>
        <p:spPr>
          <a:xfrm>
            <a:off x="838200" y="358862"/>
            <a:ext cx="6226479" cy="749691"/>
          </a:xfrm>
        </p:spPr>
        <p:txBody>
          <a:bodyPr>
            <a:normAutofit/>
          </a:bodyPr>
          <a:lstStyle/>
          <a:p>
            <a:r>
              <a:rPr lang="zh-CN" altLang="en-US" sz="2400" dirty="0"/>
              <a:t>核心背景：为何要研究无镜头成像</a:t>
            </a:r>
          </a:p>
        </p:txBody>
      </p:sp>
      <p:sp>
        <p:nvSpPr>
          <p:cNvPr id="3" name="内容占位符 2">
            <a:extLst>
              <a:ext uri="{FF2B5EF4-FFF2-40B4-BE49-F238E27FC236}">
                <a16:creationId xmlns:a16="http://schemas.microsoft.com/office/drawing/2014/main" id="{F27284B9-A1D6-430E-B760-6E64153BACA6}"/>
              </a:ext>
            </a:extLst>
          </p:cNvPr>
          <p:cNvSpPr>
            <a:spLocks noGrp="1"/>
          </p:cNvSpPr>
          <p:nvPr>
            <p:ph idx="1"/>
          </p:nvPr>
        </p:nvSpPr>
        <p:spPr>
          <a:xfrm>
            <a:off x="838200" y="1327759"/>
            <a:ext cx="10515600" cy="4640893"/>
          </a:xfrm>
        </p:spPr>
        <p:txBody>
          <a:bodyPr>
            <a:normAutofit fontScale="40000" lnSpcReduction="20000"/>
          </a:bodyPr>
          <a:lstStyle/>
          <a:p>
            <a:pPr>
              <a:lnSpc>
                <a:spcPct val="145000"/>
              </a:lnSpc>
            </a:pPr>
            <a:r>
              <a:rPr lang="en-US" altLang="zh-CN" sz="2900" dirty="0"/>
              <a:t>1. </a:t>
            </a:r>
            <a:r>
              <a:rPr lang="zh-CN" altLang="en-US" sz="2900" dirty="0"/>
              <a:t>研究背景</a:t>
            </a:r>
            <a:endParaRPr lang="en-US" altLang="zh-CN" sz="2900" dirty="0"/>
          </a:p>
          <a:p>
            <a:pPr lvl="1">
              <a:lnSpc>
                <a:spcPct val="145000"/>
              </a:lnSpc>
            </a:pPr>
            <a:r>
              <a:rPr lang="zh-CN" altLang="en-US" sz="2800" dirty="0"/>
              <a:t>传统相机受限于透镜物理焦距，难以微型化，在小型化和集成化方面形成了限制。</a:t>
            </a:r>
            <a:endParaRPr lang="en-US" altLang="zh-CN" sz="2800" dirty="0"/>
          </a:p>
          <a:p>
            <a:pPr lvl="1">
              <a:lnSpc>
                <a:spcPct val="145000"/>
              </a:lnSpc>
            </a:pPr>
            <a:r>
              <a:rPr lang="zh-CN" altLang="en-US" sz="2800" dirty="0"/>
              <a:t>而在无镜头相机中</a:t>
            </a:r>
            <a:r>
              <a:rPr lang="en-US" altLang="zh-CN" sz="2800" dirty="0"/>
              <a:t>,</a:t>
            </a:r>
            <a:r>
              <a:rPr lang="zh-CN" altLang="en-US" sz="2800" dirty="0"/>
              <a:t>光学透镜被移除</a:t>
            </a:r>
            <a:r>
              <a:rPr lang="en-US" altLang="zh-CN" sz="2800" dirty="0"/>
              <a:t>,</a:t>
            </a:r>
            <a:r>
              <a:rPr lang="zh-CN" altLang="en-US" sz="2800" dirty="0"/>
              <a:t>取而代之的是传感器捕获的测量结果</a:t>
            </a:r>
            <a:r>
              <a:rPr lang="en-US" altLang="zh-CN" sz="2800" dirty="0"/>
              <a:t>,</a:t>
            </a:r>
            <a:r>
              <a:rPr lang="zh-CN" altLang="en-US" sz="2800" dirty="0"/>
              <a:t>并通过相应算法对其进行后处理</a:t>
            </a:r>
            <a:r>
              <a:rPr lang="en-US" altLang="zh-CN" sz="2800" dirty="0"/>
              <a:t>,</a:t>
            </a:r>
            <a:r>
              <a:rPr lang="zh-CN" altLang="en-US" sz="2800" dirty="0"/>
              <a:t>以重建清晰的图像。计算成像算法进行图像重建</a:t>
            </a:r>
            <a:r>
              <a:rPr lang="en-US" altLang="zh-CN" sz="2800" dirty="0"/>
              <a:t>,</a:t>
            </a:r>
            <a:r>
              <a:rPr lang="zh-CN" altLang="en-US" sz="2800" dirty="0"/>
              <a:t>实现了更轻便、更紧凑的设计。</a:t>
            </a:r>
            <a:endParaRPr lang="en-US" altLang="zh-CN" sz="2800" dirty="0"/>
          </a:p>
          <a:p>
            <a:pPr>
              <a:lnSpc>
                <a:spcPct val="145000"/>
              </a:lnSpc>
            </a:pPr>
            <a:r>
              <a:rPr lang="en-US" altLang="zh-CN" sz="2900" dirty="0"/>
              <a:t>2. </a:t>
            </a:r>
            <a:r>
              <a:rPr lang="zh-CN" altLang="en-US" sz="2900" dirty="0"/>
              <a:t>应用前景</a:t>
            </a:r>
            <a:endParaRPr lang="en-US" altLang="zh-CN" sz="2900" dirty="0"/>
          </a:p>
          <a:p>
            <a:pPr lvl="1">
              <a:lnSpc>
                <a:spcPct val="145000"/>
              </a:lnSpc>
            </a:pPr>
            <a:r>
              <a:rPr lang="zh-CN" altLang="en-US" sz="2800" dirty="0"/>
              <a:t>物联网：在物联网生态中</a:t>
            </a:r>
            <a:r>
              <a:rPr lang="en-US" altLang="zh-CN" sz="2800" dirty="0"/>
              <a:t>,</a:t>
            </a:r>
            <a:r>
              <a:rPr lang="zh-CN" altLang="en-US" sz="2800" dirty="0"/>
              <a:t>传感器作为数据生成的核心来源</a:t>
            </a:r>
            <a:r>
              <a:rPr lang="en-US" altLang="zh-CN" sz="2800" dirty="0"/>
              <a:t>,</a:t>
            </a:r>
            <a:r>
              <a:rPr lang="zh-CN" altLang="en-US" sz="2800" dirty="0"/>
              <a:t>是不可或缺的重要组成部分</a:t>
            </a:r>
            <a:r>
              <a:rPr lang="en-US" altLang="zh-CN" sz="2800" dirty="0"/>
              <a:t>,</a:t>
            </a:r>
            <a:r>
              <a:rPr lang="zh-CN" altLang="en-US" sz="2800" dirty="0"/>
              <a:t>其中图像传感器数据感知与采集领域占据了重要地位。随着成像设备的应用场景不断拓宽</a:t>
            </a:r>
            <a:r>
              <a:rPr lang="en-US" altLang="zh-CN" sz="2800" dirty="0"/>
              <a:t>,</a:t>
            </a:r>
            <a:r>
              <a:rPr lang="zh-CN" altLang="en-US" sz="2800" dirty="0"/>
              <a:t>轻量化和薄型化等需求已经成为设备指引新的发展方向</a:t>
            </a:r>
            <a:endParaRPr lang="en-US" altLang="zh-CN" sz="2800" dirty="0"/>
          </a:p>
          <a:p>
            <a:pPr lvl="1">
              <a:lnSpc>
                <a:spcPct val="145000"/>
              </a:lnSpc>
            </a:pPr>
            <a:r>
              <a:rPr lang="zh-CN" altLang="en-US" sz="2800" dirty="0"/>
              <a:t>成像设备：用于检查和微创手术的设备例如显微镜、内窥镜以及其他需要在有限空间内操作或注重成本控制的成像应用</a:t>
            </a:r>
            <a:r>
              <a:rPr lang="en-US" altLang="zh-CN" sz="2800" dirty="0"/>
              <a:t>,</a:t>
            </a:r>
            <a:r>
              <a:rPr lang="zh-CN" altLang="en-US" sz="2800" dirty="0"/>
              <a:t>对设备的体积、重量以及成本提出了更为严格的要求和挑战。</a:t>
            </a:r>
          </a:p>
          <a:p>
            <a:pPr>
              <a:lnSpc>
                <a:spcPct val="145000"/>
              </a:lnSpc>
            </a:pPr>
            <a:r>
              <a:rPr lang="en-US" altLang="zh-CN" sz="2900" dirty="0"/>
              <a:t>3. </a:t>
            </a:r>
            <a:r>
              <a:rPr lang="zh-CN" altLang="en-US" sz="2900" dirty="0"/>
              <a:t>研究现状与挑战</a:t>
            </a:r>
            <a:endParaRPr lang="en-US" altLang="zh-CN" sz="2900" dirty="0"/>
          </a:p>
          <a:p>
            <a:pPr lvl="1">
              <a:lnSpc>
                <a:spcPct val="145000"/>
              </a:lnSpc>
            </a:pPr>
            <a:r>
              <a:rPr lang="zh-CN" altLang="en-US" sz="2800" dirty="0"/>
              <a:t>目前常用的图像复原算法是基于模型的优化迭代方法：构建目标场景与无镜头相机测得图像之间正向传播模型</a:t>
            </a:r>
            <a:r>
              <a:rPr lang="en-US" altLang="zh-CN" sz="2800" dirty="0"/>
              <a:t>,</a:t>
            </a:r>
            <a:r>
              <a:rPr lang="zh-CN" altLang="en-US" sz="2800" dirty="0"/>
              <a:t>然后利用优化算法求解逆问题</a:t>
            </a:r>
            <a:r>
              <a:rPr lang="en-US" altLang="zh-CN" sz="2800" dirty="0"/>
              <a:t>,</a:t>
            </a:r>
            <a:r>
              <a:rPr lang="zh-CN" altLang="en-US" sz="2800" dirty="0"/>
              <a:t>从而实现重建的方法。</a:t>
            </a:r>
            <a:endParaRPr lang="en-US" altLang="zh-CN" sz="2800" dirty="0"/>
          </a:p>
          <a:p>
            <a:pPr lvl="2">
              <a:lnSpc>
                <a:spcPct val="145000"/>
              </a:lnSpc>
            </a:pPr>
            <a:r>
              <a:rPr lang="zh-CN" altLang="en-US" sz="2800" dirty="0"/>
              <a:t>然而</a:t>
            </a:r>
            <a:r>
              <a:rPr lang="en-US" altLang="zh-CN" sz="2800" dirty="0"/>
              <a:t>,</a:t>
            </a:r>
            <a:r>
              <a:rPr lang="zh-CN" altLang="en-US" sz="2800" dirty="0"/>
              <a:t>在解决逆问题的过程中</a:t>
            </a:r>
            <a:r>
              <a:rPr lang="en-US" altLang="zh-CN" sz="2800" dirty="0"/>
              <a:t>,</a:t>
            </a:r>
            <a:r>
              <a:rPr lang="zh-CN" altLang="en-US" sz="2800" dirty="0"/>
              <a:t>逆问题的解通常不是唯一的</a:t>
            </a:r>
            <a:r>
              <a:rPr lang="en-US" altLang="zh-CN" sz="2800" dirty="0"/>
              <a:t>,</a:t>
            </a:r>
            <a:r>
              <a:rPr lang="zh-CN" altLang="en-US" sz="2800" dirty="0"/>
              <a:t>即一个特定的传感器测得的图像</a:t>
            </a:r>
            <a:r>
              <a:rPr lang="en-US" altLang="zh-CN" sz="2800" dirty="0"/>
              <a:t>,</a:t>
            </a:r>
            <a:r>
              <a:rPr lang="zh-CN" altLang="en-US" sz="2800" dirty="0"/>
              <a:t>可能对应着多种不同的输入解</a:t>
            </a:r>
            <a:r>
              <a:rPr lang="en-US" altLang="zh-CN" sz="2800" dirty="0"/>
              <a:t>,</a:t>
            </a:r>
            <a:r>
              <a:rPr lang="zh-CN" altLang="en-US" sz="2800" dirty="0"/>
              <a:t>从而使得原始场景的重建变得困难。</a:t>
            </a:r>
            <a:endParaRPr lang="en-US" altLang="zh-CN" sz="2800" dirty="0"/>
          </a:p>
          <a:p>
            <a:pPr lvl="2">
              <a:lnSpc>
                <a:spcPct val="145000"/>
              </a:lnSpc>
            </a:pPr>
            <a:r>
              <a:rPr lang="zh-CN" altLang="en-US" sz="2800" dirty="0"/>
              <a:t>此外</a:t>
            </a:r>
            <a:r>
              <a:rPr lang="en-US" altLang="zh-CN" sz="2800" dirty="0"/>
              <a:t>,</a:t>
            </a:r>
            <a:r>
              <a:rPr lang="zh-CN" altLang="en-US" sz="2800" dirty="0"/>
              <a:t>逆问题的求解过程计算量大</a:t>
            </a:r>
            <a:r>
              <a:rPr lang="en-US" altLang="zh-CN" sz="2800" dirty="0"/>
              <a:t>,  </a:t>
            </a:r>
            <a:r>
              <a:rPr lang="zh-CN" altLang="en-US" sz="2800" dirty="0"/>
              <a:t>而现有成像系统对图像重建的效率要求也十分严格</a:t>
            </a:r>
            <a:r>
              <a:rPr lang="en-US" altLang="zh-CN" sz="2800" dirty="0"/>
              <a:t>,</a:t>
            </a:r>
            <a:r>
              <a:rPr lang="zh-CN" altLang="en-US" sz="2800" dirty="0"/>
              <a:t>因而急需快速甚至实时的重建算法。</a:t>
            </a:r>
            <a:endParaRPr lang="en-US" altLang="zh-CN" sz="2800" dirty="0"/>
          </a:p>
          <a:p>
            <a:pPr lvl="2">
              <a:lnSpc>
                <a:spcPct val="145000"/>
              </a:lnSpc>
            </a:pPr>
            <a:r>
              <a:rPr lang="zh-CN" altLang="en-US" sz="2800" dirty="0"/>
              <a:t>此外</a:t>
            </a:r>
            <a:r>
              <a:rPr lang="en-US" altLang="zh-CN" sz="2800" dirty="0"/>
              <a:t>,</a:t>
            </a:r>
            <a:r>
              <a:rPr lang="zh-CN" altLang="en-US" sz="2800" dirty="0"/>
              <a:t>逆问题的求解往往是病态的</a:t>
            </a:r>
            <a:r>
              <a:rPr lang="en-US" altLang="zh-CN" sz="2800" dirty="0"/>
              <a:t>,</a:t>
            </a:r>
            <a:r>
              <a:rPr lang="zh-CN" altLang="en-US" sz="2800" dirty="0"/>
              <a:t>特别是在无镜头编码成像系统中</a:t>
            </a:r>
            <a:r>
              <a:rPr lang="en-US" altLang="zh-CN" sz="2800" dirty="0"/>
              <a:t>,  </a:t>
            </a:r>
            <a:r>
              <a:rPr lang="zh-CN" altLang="en-US" sz="2800" dirty="0"/>
              <a:t>图像重建结果对测量图像中的细微扰动非常敏感</a:t>
            </a:r>
            <a:r>
              <a:rPr lang="en-US" altLang="zh-CN" sz="2800" dirty="0"/>
              <a:t>,</a:t>
            </a:r>
            <a:r>
              <a:rPr lang="zh-CN" altLang="en-US" sz="2800" dirty="0"/>
              <a:t>噪声带来的影响极可能被放大</a:t>
            </a:r>
            <a:r>
              <a:rPr lang="en-US" altLang="zh-CN" sz="2800" dirty="0"/>
              <a:t>,  </a:t>
            </a:r>
            <a:r>
              <a:rPr lang="zh-CN" altLang="en-US" sz="2800" dirty="0"/>
              <a:t>因此在标定实验等环节中需要更加精密的测量。</a:t>
            </a:r>
            <a:endParaRPr lang="en-US" altLang="zh-CN" sz="2800" dirty="0"/>
          </a:p>
        </p:txBody>
      </p:sp>
    </p:spTree>
    <p:extLst>
      <p:ext uri="{BB962C8B-B14F-4D97-AF65-F5344CB8AC3E}">
        <p14:creationId xmlns:p14="http://schemas.microsoft.com/office/powerpoint/2010/main" val="11593600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7BB5EF-7C39-46F3-936B-37B43A5DA92B}"/>
              </a:ext>
            </a:extLst>
          </p:cNvPr>
          <p:cNvSpPr>
            <a:spLocks noGrp="1"/>
          </p:cNvSpPr>
          <p:nvPr>
            <p:ph type="title"/>
          </p:nvPr>
        </p:nvSpPr>
        <p:spPr>
          <a:xfrm>
            <a:off x="838200" y="365125"/>
            <a:ext cx="10515600" cy="993949"/>
          </a:xfrm>
        </p:spPr>
        <p:txBody>
          <a:bodyPr>
            <a:normAutofit/>
          </a:bodyPr>
          <a:lstStyle/>
          <a:p>
            <a:r>
              <a:rPr lang="zh-CN" altLang="en-US" sz="2400" dirty="0"/>
              <a:t>创新点</a:t>
            </a:r>
            <a:r>
              <a:rPr lang="en-US" altLang="zh-CN" sz="2400" dirty="0"/>
              <a:t>1</a:t>
            </a:r>
            <a:r>
              <a:rPr lang="zh-CN" altLang="en-US" sz="2400" dirty="0"/>
              <a:t>：基于可分离编码掩模的无镜头快速成像算法</a:t>
            </a:r>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7BBE3B6B-8E93-4161-92DC-C01E5EC5F478}"/>
                  </a:ext>
                </a:extLst>
              </p:cNvPr>
              <p:cNvSpPr>
                <a:spLocks noGrp="1"/>
              </p:cNvSpPr>
              <p:nvPr>
                <p:ph idx="1"/>
              </p:nvPr>
            </p:nvSpPr>
            <p:spPr>
              <a:xfrm>
                <a:off x="838200" y="1277656"/>
                <a:ext cx="10515600" cy="2254559"/>
              </a:xfrm>
            </p:spPr>
            <p:txBody>
              <a:bodyPr>
                <a:noAutofit/>
              </a:bodyPr>
              <a:lstStyle/>
              <a:p>
                <a:pPr>
                  <a:lnSpc>
                    <a:spcPct val="125000"/>
                  </a:lnSpc>
                </a:pPr>
                <a:r>
                  <a:rPr lang="zh-CN" altLang="en-US" sz="1100" dirty="0"/>
                  <a:t>可分离编码掩模</a:t>
                </a:r>
                <a:endParaRPr lang="en-US" altLang="zh-CN" sz="1100" dirty="0"/>
              </a:p>
              <a:p>
                <a:pPr lvl="1">
                  <a:lnSpc>
                    <a:spcPct val="125000"/>
                  </a:lnSpc>
                </a:pPr>
                <a:r>
                  <a:rPr lang="zh-CN" altLang="en-US" sz="1100" dirty="0"/>
                  <a:t>基于编码掩模的无镜头成像系统由以下几部分构成</a:t>
                </a:r>
                <a:r>
                  <a:rPr lang="en-US" altLang="zh-CN" sz="1100" dirty="0"/>
                  <a:t>:</a:t>
                </a:r>
                <a:r>
                  <a:rPr lang="zh-CN" altLang="en-US" sz="1100" dirty="0"/>
                  <a:t>图像传感器、放置在图像传感器之前的编码掩模以及待测量的原始场景。对于原始场景中的任意点光源</a:t>
                </a:r>
                <a:r>
                  <a:rPr lang="en-US" altLang="zh-CN" sz="1100" dirty="0"/>
                  <a:t>,</a:t>
                </a:r>
                <a:r>
                  <a:rPr lang="zh-CN" altLang="en-US" sz="1100" dirty="0"/>
                  <a:t>编码掩模会对入射光线进行编码调制</a:t>
                </a:r>
                <a:r>
                  <a:rPr lang="en-US" altLang="zh-CN" sz="1100" dirty="0"/>
                  <a:t>,</a:t>
                </a:r>
                <a:r>
                  <a:rPr lang="zh-CN" altLang="en-US" sz="1100" dirty="0"/>
                  <a:t>即让光线通过特定规律分布的编码掩模图案</a:t>
                </a:r>
                <a:r>
                  <a:rPr lang="en-US" altLang="zh-CN" sz="1100" dirty="0"/>
                  <a:t>,</a:t>
                </a:r>
                <a:r>
                  <a:rPr lang="zh-CN" altLang="en-US" sz="1100" dirty="0"/>
                  <a:t>然后被图像传感器接收到与该图案相同的投影。</a:t>
                </a:r>
                <a:endParaRPr lang="en-US" altLang="zh-CN" sz="1100" dirty="0"/>
              </a:p>
              <a:p>
                <a:pPr lvl="1">
                  <a:lnSpc>
                    <a:spcPct val="125000"/>
                  </a:lnSpc>
                </a:pPr>
                <a:r>
                  <a:rPr lang="zh-CN" altLang="en-US" sz="1100" dirty="0"/>
                  <a:t>设</a:t>
                </a:r>
                <a:r>
                  <a:rPr lang="en-US" altLang="zh-CN" sz="1100" dirty="0"/>
                  <a:t>Y (m, n) </a:t>
                </a:r>
                <a:r>
                  <a:rPr lang="zh-CN" altLang="en-US" sz="1100" dirty="0"/>
                  <a:t>表示传感器在 </a:t>
                </a:r>
                <a:r>
                  <a:rPr lang="en-US" altLang="zh-CN" sz="1100" dirty="0"/>
                  <a:t>(m, n) </a:t>
                </a:r>
                <a:r>
                  <a:rPr lang="zh-CN" altLang="en-US" sz="1100" dirty="0"/>
                  <a:t>位置的采样</a:t>
                </a:r>
                <a:r>
                  <a:rPr lang="en-US" altLang="zh-CN" sz="1100" dirty="0"/>
                  <a:t>, X (</a:t>
                </a:r>
                <a:r>
                  <a:rPr lang="en-US" altLang="zh-CN" sz="1100" dirty="0" err="1"/>
                  <a:t>i</a:t>
                </a:r>
                <a:r>
                  <a:rPr lang="en-US" altLang="zh-CN" sz="1100" dirty="0"/>
                  <a:t>, j) </a:t>
                </a:r>
                <a:r>
                  <a:rPr lang="zh-CN" altLang="en-US" sz="1100" dirty="0"/>
                  <a:t>表示目标 </a:t>
                </a:r>
                <a:r>
                  <a:rPr lang="en-US" altLang="zh-CN" sz="1100" dirty="0"/>
                  <a:t>(</a:t>
                </a:r>
                <a:r>
                  <a:rPr lang="en-US" altLang="zh-CN" sz="1100" dirty="0" err="1"/>
                  <a:t>i</a:t>
                </a:r>
                <a:r>
                  <a:rPr lang="en-US" altLang="zh-CN" sz="1100" dirty="0"/>
                  <a:t>, j) </a:t>
                </a:r>
                <a:r>
                  <a:rPr lang="zh-CN" altLang="en-US" sz="1100" dirty="0"/>
                  <a:t>处的点光源  的强度</a:t>
                </a:r>
                <a:r>
                  <a:rPr lang="en-US" altLang="zh-CN" sz="1100" dirty="0"/>
                  <a:t>,A </a:t>
                </a:r>
                <a:r>
                  <a:rPr lang="zh-CN" altLang="en-US" sz="1100" dirty="0"/>
                  <a:t>表示编码掩模图案矩阵</a:t>
                </a:r>
                <a:r>
                  <a:rPr lang="en-US" altLang="zh-CN" sz="1100" dirty="0"/>
                  <a:t>,E </a:t>
                </a:r>
                <a:r>
                  <a:rPr lang="zh-CN" altLang="en-US" sz="1100" dirty="0"/>
                  <a:t>表示噪声。则传感器测量图像可以表示为</a:t>
                </a:r>
                <a:r>
                  <a:rPr lang="en-US" altLang="zh-CN" sz="1100" dirty="0"/>
                  <a:t>:  </a:t>
                </a:r>
                <a14:m>
                  <m:oMath xmlns:m="http://schemas.openxmlformats.org/officeDocument/2006/math">
                    <m:r>
                      <a:rPr lang="en-US" altLang="zh-CN" sz="1100" b="0" i="1" smtClean="0">
                        <a:latin typeface="Cambria Math" panose="02040503050406030204" pitchFamily="18" charset="0"/>
                      </a:rPr>
                      <m:t>𝑌</m:t>
                    </m:r>
                    <m:r>
                      <a:rPr lang="en-US" altLang="zh-CN" sz="1100" b="0" i="1" smtClean="0">
                        <a:latin typeface="Cambria Math" panose="02040503050406030204" pitchFamily="18" charset="0"/>
                      </a:rPr>
                      <m:t>=</m:t>
                    </m:r>
                    <m:r>
                      <a:rPr lang="en-US" altLang="zh-CN" sz="1100" b="0" i="1" smtClean="0">
                        <a:latin typeface="Cambria Math" panose="02040503050406030204" pitchFamily="18" charset="0"/>
                      </a:rPr>
                      <m:t>𝑋</m:t>
                    </m:r>
                    <m:r>
                      <a:rPr lang="en-US" altLang="zh-CN" sz="1100" b="0" i="1" smtClean="0">
                        <a:latin typeface="Cambria Math" panose="02040503050406030204" pitchFamily="18" charset="0"/>
                      </a:rPr>
                      <m:t>∗</m:t>
                    </m:r>
                    <m:r>
                      <a:rPr lang="en-US" altLang="zh-CN" sz="1100" b="0" i="1" smtClean="0">
                        <a:latin typeface="Cambria Math" panose="02040503050406030204" pitchFamily="18" charset="0"/>
                      </a:rPr>
                      <m:t>𝐴</m:t>
                    </m:r>
                    <m:r>
                      <a:rPr lang="en-US" altLang="zh-CN" sz="1100" b="0" i="1" smtClean="0">
                        <a:latin typeface="Cambria Math" panose="02040503050406030204" pitchFamily="18" charset="0"/>
                      </a:rPr>
                      <m:t>+</m:t>
                    </m:r>
                    <m:r>
                      <a:rPr lang="en-US" altLang="zh-CN" sz="1100" b="0" i="1" smtClean="0">
                        <a:latin typeface="Cambria Math" panose="02040503050406030204" pitchFamily="18" charset="0"/>
                      </a:rPr>
                      <m:t>𝐸</m:t>
                    </m:r>
                  </m:oMath>
                </a14:m>
                <a:endParaRPr lang="en-US" altLang="zh-CN" sz="1100" dirty="0"/>
              </a:p>
              <a:p>
                <a:pPr lvl="1">
                  <a:lnSpc>
                    <a:spcPct val="125000"/>
                  </a:lnSpc>
                </a:pPr>
                <a:r>
                  <a:rPr lang="zh-CN" altLang="en-US" sz="1100" dirty="0"/>
                  <a:t>具体而言</a:t>
                </a:r>
                <a:r>
                  <a:rPr lang="en-US" altLang="zh-CN" sz="1100" dirty="0"/>
                  <a:t>,  </a:t>
                </a:r>
                <a:r>
                  <a:rPr lang="zh-CN" altLang="en-US" sz="1100" dirty="0"/>
                  <a:t>其中 </a:t>
                </a:r>
                <a:r>
                  <a:rPr lang="en-US" altLang="zh-CN" sz="1100" dirty="0"/>
                  <a:t>X </a:t>
                </a:r>
                <a:r>
                  <a:rPr lang="zh-CN" altLang="en-US" sz="1100" dirty="0"/>
                  <a:t>为包含 </a:t>
                </a:r>
                <a:r>
                  <a:rPr lang="en-US" altLang="zh-CN" sz="1100" dirty="0"/>
                  <a:t>N*N </a:t>
                </a:r>
                <a:r>
                  <a:rPr lang="zh-CN" altLang="en-US" sz="1100" dirty="0"/>
                  <a:t>个像素点的原始场景</a:t>
                </a:r>
                <a:r>
                  <a:rPr lang="en-US" altLang="zh-CN" sz="1100" dirty="0"/>
                  <a:t>,</a:t>
                </a:r>
                <a:r>
                  <a:rPr lang="zh-CN" altLang="en-US" sz="1100" dirty="0"/>
                  <a:t>传感器测量值</a:t>
                </a:r>
                <a:r>
                  <a:rPr lang="en-US" altLang="zh-CN" sz="1100" dirty="0"/>
                  <a:t>Y </a:t>
                </a:r>
                <a:r>
                  <a:rPr lang="zh-CN" altLang="en-US" sz="1100" dirty="0"/>
                  <a:t>的尺寸即为传感器阵列大小 </a:t>
                </a:r>
                <a:r>
                  <a:rPr lang="en-US" altLang="zh-CN" sz="1100" dirty="0"/>
                  <a:t>M*M ,</a:t>
                </a:r>
                <a:r>
                  <a:rPr lang="zh-CN" altLang="en-US" sz="1100" dirty="0"/>
                  <a:t>显然系统测量矩阵 </a:t>
                </a:r>
                <a:r>
                  <a:rPr lang="en-US" altLang="zh-CN" sz="1100" dirty="0"/>
                  <a:t>Φ </a:t>
                </a:r>
                <a:r>
                  <a:rPr lang="zh-CN" altLang="en-US" sz="1100" dirty="0"/>
                  <a:t>的大小为 </a:t>
                </a:r>
                <a14:m>
                  <m:oMath xmlns:m="http://schemas.openxmlformats.org/officeDocument/2006/math">
                    <m:sSup>
                      <m:sSupPr>
                        <m:ctrlPr>
                          <a:rPr lang="en-US" altLang="zh-CN" sz="1100" b="0" i="1" smtClean="0">
                            <a:latin typeface="Cambria Math" panose="02040503050406030204" pitchFamily="18" charset="0"/>
                          </a:rPr>
                        </m:ctrlPr>
                      </m:sSupPr>
                      <m:e>
                        <m:r>
                          <a:rPr lang="en-US" altLang="zh-CN" sz="1100" b="0" i="1" smtClean="0">
                            <a:latin typeface="Cambria Math" panose="02040503050406030204" pitchFamily="18" charset="0"/>
                          </a:rPr>
                          <m:t>𝑀</m:t>
                        </m:r>
                      </m:e>
                      <m:sup>
                        <m:r>
                          <a:rPr lang="en-US" altLang="zh-CN" sz="1100" b="0" i="1" smtClean="0">
                            <a:latin typeface="Cambria Math" panose="02040503050406030204" pitchFamily="18" charset="0"/>
                          </a:rPr>
                          <m:t>2</m:t>
                        </m:r>
                      </m:sup>
                    </m:sSup>
                    <m:r>
                      <a:rPr lang="en-US" altLang="zh-CN" sz="1100" b="0" i="1" smtClean="0">
                        <a:latin typeface="Cambria Math" panose="02040503050406030204" pitchFamily="18" charset="0"/>
                      </a:rPr>
                      <m:t>∗</m:t>
                    </m:r>
                    <m:sSup>
                      <m:sSupPr>
                        <m:ctrlPr>
                          <a:rPr lang="en-US" altLang="zh-CN" sz="1100" b="0" i="1" smtClean="0">
                            <a:latin typeface="Cambria Math" panose="02040503050406030204" pitchFamily="18" charset="0"/>
                          </a:rPr>
                        </m:ctrlPr>
                      </m:sSupPr>
                      <m:e>
                        <m:r>
                          <a:rPr lang="en-US" altLang="zh-CN" sz="1100" b="0" i="1" smtClean="0">
                            <a:latin typeface="Cambria Math" panose="02040503050406030204" pitchFamily="18" charset="0"/>
                          </a:rPr>
                          <m:t>𝑁</m:t>
                        </m:r>
                      </m:e>
                      <m:sup>
                        <m:r>
                          <a:rPr lang="en-US" altLang="zh-CN" sz="1100" b="0" i="1" smtClean="0">
                            <a:latin typeface="Cambria Math" panose="02040503050406030204" pitchFamily="18" charset="0"/>
                          </a:rPr>
                          <m:t>2</m:t>
                        </m:r>
                      </m:sup>
                    </m:sSup>
                    <m:r>
                      <a:rPr lang="en-US" altLang="zh-CN" sz="1100" b="0" i="0" smtClean="0">
                        <a:latin typeface="Cambria Math" panose="02040503050406030204" pitchFamily="18" charset="0"/>
                      </a:rPr>
                      <m:t>,</m:t>
                    </m:r>
                    <m:r>
                      <a:rPr lang="zh-CN" altLang="en-US" sz="1100" i="1">
                        <a:latin typeface="Cambria Math" panose="02040503050406030204" pitchFamily="18" charset="0"/>
                      </a:rPr>
                      <m:t>重建</m:t>
                    </m:r>
                  </m:oMath>
                </a14:m>
                <a:r>
                  <a:rPr lang="zh-CN" altLang="en-US" sz="1100" dirty="0"/>
                  <a:t>求解的难度非常大。</a:t>
                </a:r>
                <a:endParaRPr lang="en-US" altLang="zh-CN" sz="1100" dirty="0"/>
              </a:p>
              <a:p>
                <a:pPr lvl="1">
                  <a:lnSpc>
                    <a:spcPct val="125000"/>
                  </a:lnSpc>
                </a:pPr>
                <a:r>
                  <a:rPr lang="zh-CN" altLang="en-US" sz="1100" dirty="0"/>
                  <a:t>可分离编码掩模的概念在 </a:t>
                </a:r>
                <a:r>
                  <a:rPr lang="en-US" altLang="zh-CN" sz="1100" dirty="0"/>
                  <a:t>2015 </a:t>
                </a:r>
                <a:r>
                  <a:rPr lang="zh-CN" altLang="en-US" sz="1100" dirty="0"/>
                  <a:t>年首次被 </a:t>
                </a:r>
                <a:r>
                  <a:rPr lang="en-US" altLang="zh-CN" sz="1100" dirty="0"/>
                  <a:t>Michael </a:t>
                </a:r>
                <a:r>
                  <a:rPr lang="en-US" altLang="zh-CN" sz="1100" dirty="0" err="1"/>
                  <a:t>J.DeWeert</a:t>
                </a:r>
                <a:r>
                  <a:rPr lang="zh-CN" altLang="en-US" sz="1100" dirty="0"/>
                  <a:t>提出</a:t>
                </a:r>
                <a:r>
                  <a:rPr lang="en-US" altLang="zh-CN" sz="1100" dirty="0"/>
                  <a:t>,</a:t>
                </a:r>
                <a:r>
                  <a:rPr lang="zh-CN" altLang="en-US" sz="1100" dirty="0"/>
                  <a:t>其认为掩模矩阵 </a:t>
                </a:r>
                <a:r>
                  <a:rPr lang="en-US" altLang="zh-CN" sz="1100" dirty="0"/>
                  <a:t>A </a:t>
                </a:r>
                <a:r>
                  <a:rPr lang="zh-CN" altLang="en-US" sz="1100" dirty="0"/>
                  <a:t>可以表示为两个一维向量 </a:t>
                </a:r>
                <a:r>
                  <a:rPr lang="en-US" altLang="zh-CN" sz="1100" dirty="0" err="1"/>
                  <a:t>ψa,ψb</a:t>
                </a:r>
                <a:r>
                  <a:rPr lang="en-US" altLang="zh-CN" sz="1100" dirty="0"/>
                  <a:t> </a:t>
                </a:r>
                <a:r>
                  <a:rPr lang="zh-CN" altLang="en-US" sz="1100" dirty="0"/>
                  <a:t>的内积</a:t>
                </a:r>
                <a:r>
                  <a:rPr lang="en-US" altLang="zh-CN" sz="1100" dirty="0"/>
                  <a:t>: </a:t>
                </a:r>
                <a14:m>
                  <m:oMath xmlns:m="http://schemas.openxmlformats.org/officeDocument/2006/math">
                    <m:r>
                      <m:rPr>
                        <m:sty m:val="p"/>
                      </m:rPr>
                      <a:rPr lang="en-US" altLang="zh-CN" sz="1100" i="1" dirty="0">
                        <a:latin typeface="Cambria Math" panose="02040503050406030204" pitchFamily="18" charset="0"/>
                      </a:rPr>
                      <m:t>A</m:t>
                    </m:r>
                    <m:d>
                      <m:dPr>
                        <m:ctrlPr>
                          <a:rPr lang="en-US" altLang="zh-CN" sz="1100" b="0" i="1" dirty="0" smtClean="0">
                            <a:latin typeface="Cambria Math" panose="02040503050406030204" pitchFamily="18" charset="0"/>
                          </a:rPr>
                        </m:ctrlPr>
                      </m:dPr>
                      <m:e>
                        <m:r>
                          <a:rPr lang="en-US" altLang="zh-CN" sz="1100" b="0" i="1" dirty="0" smtClean="0">
                            <a:latin typeface="Cambria Math" panose="02040503050406030204" pitchFamily="18" charset="0"/>
                          </a:rPr>
                          <m:t>𝑖</m:t>
                        </m:r>
                        <m:r>
                          <a:rPr lang="en-US" altLang="zh-CN" sz="1100" b="0" i="1" dirty="0" smtClean="0">
                            <a:latin typeface="Cambria Math" panose="02040503050406030204" pitchFamily="18" charset="0"/>
                          </a:rPr>
                          <m:t>,</m:t>
                        </m:r>
                        <m:r>
                          <a:rPr lang="en-US" altLang="zh-CN" sz="1100" b="0" i="1" dirty="0" smtClean="0">
                            <a:latin typeface="Cambria Math" panose="02040503050406030204" pitchFamily="18" charset="0"/>
                          </a:rPr>
                          <m:t>𝑗</m:t>
                        </m:r>
                      </m:e>
                    </m:d>
                    <m:r>
                      <a:rPr lang="en-US" altLang="zh-CN" sz="1100" b="0" i="1" dirty="0" smtClean="0">
                        <a:latin typeface="Cambria Math" panose="02040503050406030204" pitchFamily="18" charset="0"/>
                      </a:rPr>
                      <m:t>=</m:t>
                    </m:r>
                    <m:r>
                      <a:rPr lang="el-GR" altLang="zh-CN" sz="1100" i="1" dirty="0">
                        <a:latin typeface="Cambria Math" panose="02040503050406030204" pitchFamily="18" charset="0"/>
                      </a:rPr>
                      <m:t>𝜓</m:t>
                    </m:r>
                    <m:r>
                      <a:rPr lang="en-US" altLang="zh-CN" sz="1100" b="0" i="1" dirty="0" smtClean="0">
                        <a:latin typeface="Cambria Math" panose="02040503050406030204" pitchFamily="18" charset="0"/>
                      </a:rPr>
                      <m:t>𝑎</m:t>
                    </m:r>
                    <m:d>
                      <m:dPr>
                        <m:ctrlPr>
                          <a:rPr lang="en-US" altLang="zh-CN" sz="1100" b="0" i="1" dirty="0" smtClean="0">
                            <a:latin typeface="Cambria Math" panose="02040503050406030204" pitchFamily="18" charset="0"/>
                          </a:rPr>
                        </m:ctrlPr>
                      </m:dPr>
                      <m:e>
                        <m:r>
                          <a:rPr lang="en-US" altLang="zh-CN" sz="1100" b="0" i="1" dirty="0" smtClean="0">
                            <a:latin typeface="Cambria Math" panose="02040503050406030204" pitchFamily="18" charset="0"/>
                          </a:rPr>
                          <m:t>𝑖</m:t>
                        </m:r>
                      </m:e>
                    </m:d>
                    <m:r>
                      <a:rPr lang="el-GR" altLang="zh-CN" sz="1100" i="1" dirty="0">
                        <a:latin typeface="Cambria Math" panose="02040503050406030204" pitchFamily="18" charset="0"/>
                      </a:rPr>
                      <m:t>𝜓</m:t>
                    </m:r>
                    <m:r>
                      <a:rPr lang="en-US" altLang="zh-CN" sz="1100" b="0" i="1" dirty="0" smtClean="0">
                        <a:latin typeface="Cambria Math" panose="02040503050406030204" pitchFamily="18" charset="0"/>
                      </a:rPr>
                      <m:t>𝑏</m:t>
                    </m:r>
                    <m:d>
                      <m:dPr>
                        <m:ctrlPr>
                          <a:rPr lang="en-US" altLang="zh-CN" sz="1100" b="0" i="1" dirty="0" smtClean="0">
                            <a:latin typeface="Cambria Math" panose="02040503050406030204" pitchFamily="18" charset="0"/>
                          </a:rPr>
                        </m:ctrlPr>
                      </m:dPr>
                      <m:e>
                        <m:r>
                          <a:rPr lang="en-US" altLang="zh-CN" sz="1100" b="0" i="1" dirty="0" smtClean="0">
                            <a:latin typeface="Cambria Math" panose="02040503050406030204" pitchFamily="18" charset="0"/>
                          </a:rPr>
                          <m:t>𝑗</m:t>
                        </m:r>
                      </m:e>
                    </m:d>
                    <m:r>
                      <a:rPr lang="en-US" altLang="zh-CN" sz="1100" b="0" i="0" dirty="0" smtClean="0">
                        <a:latin typeface="Cambria Math" panose="02040503050406030204" pitchFamily="18" charset="0"/>
                      </a:rPr>
                      <m:t>.</m:t>
                    </m:r>
                  </m:oMath>
                </a14:m>
                <a:r>
                  <a:rPr lang="en-US" altLang="zh-CN" sz="1100" dirty="0"/>
                  <a:t> </a:t>
                </a:r>
                <a:r>
                  <a:rPr lang="zh-CN" altLang="en-US" sz="1100" dirty="0"/>
                  <a:t>基于这种可分离编码掩模的无镜头相机的系统方程则可以表示为</a:t>
                </a:r>
                <a:r>
                  <a:rPr lang="en-US" altLang="zh-CN" sz="1100" dirty="0"/>
                  <a:t>:</a:t>
                </a:r>
                <a14:m>
                  <m:oMath xmlns:m="http://schemas.openxmlformats.org/officeDocument/2006/math">
                    <m:r>
                      <a:rPr lang="en-US" altLang="zh-CN" sz="1100" b="0" i="1" smtClean="0">
                        <a:latin typeface="Cambria Math" panose="02040503050406030204" pitchFamily="18" charset="0"/>
                      </a:rPr>
                      <m:t>𝑌</m:t>
                    </m:r>
                    <m:r>
                      <a:rPr lang="en-US" altLang="zh-CN" sz="1100" b="0" i="1" smtClean="0">
                        <a:latin typeface="Cambria Math" panose="02040503050406030204" pitchFamily="18" charset="0"/>
                      </a:rPr>
                      <m:t>=</m:t>
                    </m:r>
                    <m:sSub>
                      <m:sSubPr>
                        <m:ctrlPr>
                          <a:rPr lang="el-GR" altLang="zh-CN" sz="1100" b="0" i="1" smtClean="0">
                            <a:latin typeface="Cambria Math" panose="02040503050406030204" pitchFamily="18" charset="0"/>
                          </a:rPr>
                        </m:ctrlPr>
                      </m:sSubPr>
                      <m:e>
                        <m:r>
                          <a:rPr lang="el-GR" altLang="zh-CN" sz="1100" b="0" i="1" smtClean="0">
                            <a:latin typeface="Cambria Math" panose="02040503050406030204" pitchFamily="18" charset="0"/>
                          </a:rPr>
                          <m:t>𝛷</m:t>
                        </m:r>
                      </m:e>
                      <m:sub>
                        <m:r>
                          <a:rPr lang="en-US" altLang="zh-CN" sz="1100" b="0" i="1" smtClean="0">
                            <a:latin typeface="Cambria Math" panose="02040503050406030204" pitchFamily="18" charset="0"/>
                          </a:rPr>
                          <m:t>𝐿</m:t>
                        </m:r>
                      </m:sub>
                    </m:sSub>
                    <m:r>
                      <a:rPr lang="en-US" altLang="zh-CN" sz="1100" b="0" i="1" smtClean="0">
                        <a:latin typeface="Cambria Math" panose="02040503050406030204" pitchFamily="18" charset="0"/>
                      </a:rPr>
                      <m:t>𝑋</m:t>
                    </m:r>
                    <m:sSubSup>
                      <m:sSubSupPr>
                        <m:ctrlPr>
                          <a:rPr lang="en-US" altLang="zh-CN" sz="1100" b="0" i="1" smtClean="0">
                            <a:latin typeface="Cambria Math" panose="02040503050406030204" pitchFamily="18" charset="0"/>
                          </a:rPr>
                        </m:ctrlPr>
                      </m:sSubSupPr>
                      <m:e>
                        <m:r>
                          <a:rPr lang="el-GR" altLang="zh-CN" sz="1100" b="0" i="1" smtClean="0">
                            <a:latin typeface="Cambria Math" panose="02040503050406030204" pitchFamily="18" charset="0"/>
                          </a:rPr>
                          <m:t>𝛷</m:t>
                        </m:r>
                      </m:e>
                      <m:sub>
                        <m:r>
                          <a:rPr lang="en-US" altLang="zh-CN" sz="1100" b="0" i="1" smtClean="0">
                            <a:latin typeface="Cambria Math" panose="02040503050406030204" pitchFamily="18" charset="0"/>
                          </a:rPr>
                          <m:t>𝑅</m:t>
                        </m:r>
                      </m:sub>
                      <m:sup>
                        <m:r>
                          <a:rPr lang="en-US" altLang="zh-CN" sz="1100" b="0" i="1" smtClean="0">
                            <a:latin typeface="Cambria Math" panose="02040503050406030204" pitchFamily="18" charset="0"/>
                          </a:rPr>
                          <m:t>𝑇</m:t>
                        </m:r>
                      </m:sup>
                    </m:sSubSup>
                    <m:r>
                      <a:rPr lang="en-US" altLang="zh-CN" sz="1100" b="0" i="1" smtClean="0">
                        <a:latin typeface="Cambria Math" panose="02040503050406030204" pitchFamily="18" charset="0"/>
                      </a:rPr>
                      <m:t>+</m:t>
                    </m:r>
                    <m:r>
                      <a:rPr lang="en-US" altLang="zh-CN" sz="1100" b="0" i="1" smtClean="0">
                        <a:latin typeface="Cambria Math" panose="02040503050406030204" pitchFamily="18" charset="0"/>
                      </a:rPr>
                      <m:t>𝐸</m:t>
                    </m:r>
                  </m:oMath>
                </a14:m>
                <a:r>
                  <a:rPr lang="zh-CN" altLang="en-US" sz="1100" dirty="0"/>
                  <a:t>其中 </a:t>
                </a:r>
                <a:r>
                  <a:rPr lang="en-US" altLang="zh-CN" sz="1100" dirty="0"/>
                  <a:t>ΦL </a:t>
                </a:r>
                <a:r>
                  <a:rPr lang="zh-CN" altLang="en-US" sz="1100" dirty="0"/>
                  <a:t>和 </a:t>
                </a:r>
                <a:r>
                  <a:rPr lang="en-US" altLang="zh-CN" sz="1100" dirty="0"/>
                  <a:t>ΦR </a:t>
                </a:r>
                <a:r>
                  <a:rPr lang="zh-CN" altLang="en-US" sz="1100" dirty="0"/>
                  <a:t>分别表示对图像的行和列的可分离操作</a:t>
                </a:r>
                <a:r>
                  <a:rPr lang="en-US" altLang="zh-CN" sz="1100" dirty="0"/>
                  <a:t>,</a:t>
                </a:r>
                <a:r>
                  <a:rPr lang="zh-CN" altLang="en-US" sz="1100" dirty="0"/>
                  <a:t>即两个低维系统传递矩阵</a:t>
                </a:r>
                <a:r>
                  <a:rPr lang="en-US" altLang="zh-CN" sz="1100" dirty="0"/>
                  <a:t>,  E </a:t>
                </a:r>
                <a:r>
                  <a:rPr lang="zh-CN" altLang="en-US" sz="1100" dirty="0"/>
                  <a:t>代表噪声   </a:t>
                </a:r>
                <a:r>
                  <a:rPr lang="en-US" altLang="zh-CN" sz="1100" dirty="0"/>
                  <a:t> </a:t>
                </a:r>
                <a:endParaRPr lang="zh-CN" altLang="en-US" sz="1100" dirty="0"/>
              </a:p>
            </p:txBody>
          </p:sp>
        </mc:Choice>
        <mc:Fallback xmlns="">
          <p:sp>
            <p:nvSpPr>
              <p:cNvPr id="3" name="内容占位符 2">
                <a:extLst>
                  <a:ext uri="{FF2B5EF4-FFF2-40B4-BE49-F238E27FC236}">
                    <a16:creationId xmlns:a16="http://schemas.microsoft.com/office/drawing/2014/main" id="{7BBE3B6B-8E93-4161-92DC-C01E5EC5F478}"/>
                  </a:ext>
                </a:extLst>
              </p:cNvPr>
              <p:cNvSpPr>
                <a:spLocks noGrp="1" noRot="1" noChangeAspect="1" noMove="1" noResize="1" noEditPoints="1" noAdjustHandles="1" noChangeArrowheads="1" noChangeShapeType="1" noTextEdit="1"/>
              </p:cNvSpPr>
              <p:nvPr>
                <p:ph idx="1"/>
              </p:nvPr>
            </p:nvSpPr>
            <p:spPr>
              <a:xfrm>
                <a:off x="838200" y="1277656"/>
                <a:ext cx="10515600" cy="2254559"/>
              </a:xfrm>
              <a:blipFill>
                <a:blip r:embed="rId2"/>
                <a:stretch>
                  <a:fillRect b="-9756"/>
                </a:stretch>
              </a:blipFill>
            </p:spPr>
            <p:txBody>
              <a:bodyPr/>
              <a:lstStyle/>
              <a:p>
                <a:r>
                  <a:rPr lang="zh-CN" altLang="en-US">
                    <a:noFill/>
                  </a:rPr>
                  <a:t> </a:t>
                </a:r>
              </a:p>
            </p:txBody>
          </p:sp>
        </mc:Fallback>
      </mc:AlternateContent>
      <p:pic>
        <p:nvPicPr>
          <p:cNvPr id="5" name="图片 4">
            <a:extLst>
              <a:ext uri="{FF2B5EF4-FFF2-40B4-BE49-F238E27FC236}">
                <a16:creationId xmlns:a16="http://schemas.microsoft.com/office/drawing/2014/main" id="{D7F29AD8-9E5B-4147-B0C7-52797BBF9FB8}"/>
              </a:ext>
            </a:extLst>
          </p:cNvPr>
          <p:cNvPicPr>
            <a:picLocks noChangeAspect="1"/>
          </p:cNvPicPr>
          <p:nvPr/>
        </p:nvPicPr>
        <p:blipFill>
          <a:blip r:embed="rId3"/>
          <a:stretch>
            <a:fillRect/>
          </a:stretch>
        </p:blipFill>
        <p:spPr>
          <a:xfrm>
            <a:off x="7511404" y="4080916"/>
            <a:ext cx="3641980" cy="2254559"/>
          </a:xfrm>
          <a:prstGeom prst="rect">
            <a:avLst/>
          </a:prstGeom>
        </p:spPr>
      </p:pic>
      <p:sp>
        <p:nvSpPr>
          <p:cNvPr id="7" name="文本框 6">
            <a:extLst>
              <a:ext uri="{FF2B5EF4-FFF2-40B4-BE49-F238E27FC236}">
                <a16:creationId xmlns:a16="http://schemas.microsoft.com/office/drawing/2014/main" id="{AB896CB4-C0F3-4C0E-8C3E-268898AAF115}"/>
              </a:ext>
            </a:extLst>
          </p:cNvPr>
          <p:cNvSpPr txBox="1"/>
          <p:nvPr/>
        </p:nvSpPr>
        <p:spPr>
          <a:xfrm>
            <a:off x="838200" y="4080916"/>
            <a:ext cx="6097044" cy="2032223"/>
          </a:xfrm>
          <a:prstGeom prst="rect">
            <a:avLst/>
          </a:prstGeom>
          <a:noFill/>
        </p:spPr>
        <p:txBody>
          <a:bodyPr wrap="square">
            <a:spAutoFit/>
          </a:bodyPr>
          <a:lstStyle/>
          <a:p>
            <a:pPr marL="171450" indent="-171450">
              <a:lnSpc>
                <a:spcPct val="145000"/>
              </a:lnSpc>
              <a:buFont typeface="Arial" panose="020B0604020202020204" pitchFamily="34" charset="0"/>
              <a:buChar char="•"/>
            </a:pPr>
            <a:r>
              <a:rPr lang="zh-CN" altLang="en-US" sz="1100" dirty="0"/>
              <a:t>学习截断奇异值分解算法</a:t>
            </a:r>
            <a:r>
              <a:rPr lang="en-US" altLang="zh-CN" sz="1100" dirty="0"/>
              <a:t>(Le-TSVD) </a:t>
            </a:r>
          </a:p>
          <a:p>
            <a:pPr marL="628650" lvl="1" indent="-171450">
              <a:lnSpc>
                <a:spcPct val="145000"/>
              </a:lnSpc>
              <a:buFont typeface="Arial" panose="020B0604020202020204" pitchFamily="34" charset="0"/>
              <a:buChar char="•"/>
            </a:pPr>
            <a:r>
              <a:rPr lang="en-US" altLang="zh-CN" sz="1100" dirty="0"/>
              <a:t>Le-TSVD </a:t>
            </a:r>
            <a:r>
              <a:rPr lang="zh-CN" altLang="en-US" sz="1100" dirty="0"/>
              <a:t>算法包括训练过程和重建过程。训练过程首先需要获取待学习的系统参数的初始值以及提供学习优化方向的数据集。在相同的实验环境下</a:t>
            </a:r>
            <a:r>
              <a:rPr lang="en-US" altLang="zh-CN" sz="1100" dirty="0"/>
              <a:t>,</a:t>
            </a:r>
            <a:r>
              <a:rPr lang="zh-CN" altLang="en-US" sz="1100" dirty="0"/>
              <a:t>无镜头相机分别拍摄标定实验和数据集图像所对应的传感器测量图像</a:t>
            </a:r>
            <a:r>
              <a:rPr lang="en-US" altLang="zh-CN" sz="1100" dirty="0"/>
              <a:t>,</a:t>
            </a:r>
            <a:r>
              <a:rPr lang="zh-CN" altLang="en-US" sz="1100" dirty="0"/>
              <a:t>其中根据与标定实验对应的传感器测量图像</a:t>
            </a:r>
            <a:r>
              <a:rPr lang="en-US" altLang="zh-CN" sz="1100" dirty="0"/>
              <a:t>,</a:t>
            </a:r>
            <a:r>
              <a:rPr lang="zh-CN" altLang="en-US" sz="1100" dirty="0"/>
              <a:t>可以计算系统参数的初始值</a:t>
            </a:r>
            <a:r>
              <a:rPr lang="en-US" altLang="zh-CN" sz="1100" dirty="0"/>
              <a:t>,</a:t>
            </a:r>
            <a:r>
              <a:rPr lang="zh-CN" altLang="en-US" sz="1100" dirty="0"/>
              <a:t>随后使用优化器来交替迭代更新系统测量矩阵 </a:t>
            </a:r>
            <a:r>
              <a:rPr lang="en-US" altLang="zh-CN" sz="1100" dirty="0"/>
              <a:t>ΦL </a:t>
            </a:r>
            <a:r>
              <a:rPr lang="zh-CN" altLang="en-US" sz="1100" dirty="0"/>
              <a:t>和 </a:t>
            </a:r>
            <a:r>
              <a:rPr lang="en-US" altLang="zh-CN" sz="1100" dirty="0"/>
              <a:t>ΦR ,</a:t>
            </a:r>
            <a:r>
              <a:rPr lang="zh-CN" altLang="en-US" sz="1100" dirty="0"/>
              <a:t>损失函数将确定优化器的更新方向。</a:t>
            </a:r>
            <a:endParaRPr lang="en-US" altLang="zh-CN" sz="1100" dirty="0"/>
          </a:p>
          <a:p>
            <a:pPr marL="628650" lvl="1" indent="-171450">
              <a:lnSpc>
                <a:spcPct val="145000"/>
              </a:lnSpc>
              <a:buFont typeface="Arial" panose="020B0604020202020204" pitchFamily="34" charset="0"/>
              <a:buChar char="•"/>
            </a:pPr>
            <a:r>
              <a:rPr lang="zh-CN" altLang="en-US" sz="1100" dirty="0"/>
              <a:t>基于将无镜头成像系统中的系统测量矩阵分解为两个向量的内积再进行优化学习，从而简化了系统模型</a:t>
            </a:r>
            <a:r>
              <a:rPr lang="en-US" altLang="zh-CN" sz="1100" dirty="0"/>
              <a:t>,</a:t>
            </a:r>
            <a:r>
              <a:rPr lang="zh-CN" altLang="en-US" sz="1100" dirty="0"/>
              <a:t>并降低了计算复杂度。</a:t>
            </a:r>
          </a:p>
        </p:txBody>
      </p:sp>
    </p:spTree>
    <p:extLst>
      <p:ext uri="{BB962C8B-B14F-4D97-AF65-F5344CB8AC3E}">
        <p14:creationId xmlns:p14="http://schemas.microsoft.com/office/powerpoint/2010/main" val="26722849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4477B6-118C-47DD-B776-C7921F31D41A}"/>
              </a:ext>
            </a:extLst>
          </p:cNvPr>
          <p:cNvSpPr>
            <a:spLocks noGrp="1"/>
          </p:cNvSpPr>
          <p:nvPr>
            <p:ph type="title"/>
          </p:nvPr>
        </p:nvSpPr>
        <p:spPr>
          <a:xfrm>
            <a:off x="838200" y="391845"/>
            <a:ext cx="7347559" cy="931319"/>
          </a:xfrm>
        </p:spPr>
        <p:txBody>
          <a:bodyPr>
            <a:normAutofit/>
          </a:bodyPr>
          <a:lstStyle/>
          <a:p>
            <a:r>
              <a:rPr lang="zh-CN" altLang="en-US" sz="2400" dirty="0"/>
              <a:t>基于 </a:t>
            </a:r>
            <a:r>
              <a:rPr lang="en-US" altLang="zh-CN" sz="2400" dirty="0"/>
              <a:t>Le-TSVD </a:t>
            </a:r>
            <a:r>
              <a:rPr lang="zh-CN" altLang="en-US" sz="2400" dirty="0"/>
              <a:t>算法的无镜头图像重建实验</a:t>
            </a:r>
          </a:p>
        </p:txBody>
      </p:sp>
      <p:sp>
        <p:nvSpPr>
          <p:cNvPr id="3" name="内容占位符 2">
            <a:extLst>
              <a:ext uri="{FF2B5EF4-FFF2-40B4-BE49-F238E27FC236}">
                <a16:creationId xmlns:a16="http://schemas.microsoft.com/office/drawing/2014/main" id="{8A07C60E-8949-4661-A47A-FE9D28752C81}"/>
              </a:ext>
            </a:extLst>
          </p:cNvPr>
          <p:cNvSpPr>
            <a:spLocks noGrp="1"/>
          </p:cNvSpPr>
          <p:nvPr>
            <p:ph idx="1"/>
          </p:nvPr>
        </p:nvSpPr>
        <p:spPr>
          <a:xfrm>
            <a:off x="838200" y="1490597"/>
            <a:ext cx="10967581" cy="4686366"/>
          </a:xfrm>
        </p:spPr>
        <p:txBody>
          <a:bodyPr>
            <a:normAutofit/>
          </a:bodyPr>
          <a:lstStyle/>
          <a:p>
            <a:pPr>
              <a:lnSpc>
                <a:spcPct val="125000"/>
              </a:lnSpc>
            </a:pPr>
            <a:r>
              <a:rPr lang="zh-CN" altLang="en-US" sz="1100" dirty="0"/>
              <a:t>文章从 </a:t>
            </a:r>
            <a:r>
              <a:rPr lang="en-US" altLang="zh-CN" sz="1100" dirty="0"/>
              <a:t>ImageNet </a:t>
            </a:r>
            <a:r>
              <a:rPr lang="zh-CN" altLang="en-US" sz="1100" dirty="0"/>
              <a:t>数据集中抽取 </a:t>
            </a:r>
            <a:r>
              <a:rPr lang="en-US" altLang="zh-CN" sz="1100" dirty="0"/>
              <a:t>60000 </a:t>
            </a:r>
            <a:r>
              <a:rPr lang="zh-CN" altLang="en-US" sz="1100" dirty="0"/>
              <a:t>幅图像</a:t>
            </a:r>
            <a:r>
              <a:rPr lang="en-US" altLang="zh-CN" sz="1100" dirty="0"/>
              <a:t>,</a:t>
            </a:r>
            <a:r>
              <a:rPr lang="zh-CN" altLang="en-US" sz="1100" dirty="0"/>
              <a:t>并通过无镜头相机拍摄得  到的相应的传感器测量图像以构成实验使用的数据集</a:t>
            </a:r>
            <a:endParaRPr lang="en-US" altLang="zh-CN" sz="1100" dirty="0"/>
          </a:p>
          <a:p>
            <a:pPr>
              <a:lnSpc>
                <a:spcPct val="125000"/>
              </a:lnSpc>
            </a:pPr>
            <a:r>
              <a:rPr lang="zh-CN" altLang="en-US" sz="1100" dirty="0"/>
              <a:t>本文选择五种客观图像评价指标对重建图像的质量进行量化分析</a:t>
            </a:r>
            <a:r>
              <a:rPr lang="en-US" altLang="zh-CN" sz="1100" dirty="0"/>
              <a:t>,</a:t>
            </a:r>
            <a:r>
              <a:rPr lang="zh-CN" altLang="en-US" sz="1100" dirty="0"/>
              <a:t>包括峰值信噪比</a:t>
            </a:r>
            <a:r>
              <a:rPr lang="en-US" altLang="zh-CN" sz="1100" dirty="0"/>
              <a:t>(PSNR)</a:t>
            </a:r>
            <a:r>
              <a:rPr lang="zh-CN" altLang="en-US" sz="1100" dirty="0"/>
              <a:t>、结构相似度指数</a:t>
            </a:r>
            <a:r>
              <a:rPr lang="en-US" altLang="zh-CN" sz="1100" dirty="0"/>
              <a:t>(SSIM)</a:t>
            </a:r>
            <a:r>
              <a:rPr lang="zh-CN" altLang="en-US" sz="1100" dirty="0"/>
              <a:t>、信息保真度准则</a:t>
            </a:r>
            <a:r>
              <a:rPr lang="en-US" altLang="zh-CN" sz="1100" dirty="0"/>
              <a:t>(IFC)</a:t>
            </a:r>
            <a:r>
              <a:rPr lang="zh-CN" altLang="en-US" sz="1100" dirty="0"/>
              <a:t>、特征相似度指数</a:t>
            </a:r>
            <a:r>
              <a:rPr lang="en-US" altLang="zh-CN" sz="1100" dirty="0"/>
              <a:t>(FSIM)</a:t>
            </a:r>
            <a:r>
              <a:rPr lang="zh-CN" altLang="en-US" sz="1100" dirty="0"/>
              <a:t>以及图像相似性度量标准</a:t>
            </a:r>
            <a:r>
              <a:rPr lang="en-US" altLang="zh-CN" sz="1100" dirty="0"/>
              <a:t>(LPIPS)</a:t>
            </a:r>
            <a:r>
              <a:rPr lang="zh-CN" altLang="en-US" sz="1100" dirty="0"/>
              <a:t>，并选择多种图像重建算法进行对比实验，这些方法可以分为三种不同的方法</a:t>
            </a:r>
            <a:r>
              <a:rPr lang="en-US" altLang="zh-CN" sz="1100" dirty="0"/>
              <a:t>:</a:t>
            </a:r>
            <a:r>
              <a:rPr lang="zh-CN" altLang="en-US" sz="1100" dirty="0"/>
              <a:t>经典的正则化重建方法、重建后进行图像恢复的深度学习方法和基于卷积神经网络的重建方法。</a:t>
            </a:r>
            <a:endParaRPr lang="en-US" altLang="zh-CN" sz="1100" dirty="0"/>
          </a:p>
          <a:p>
            <a:pPr>
              <a:lnSpc>
                <a:spcPct val="125000"/>
              </a:lnSpc>
            </a:pPr>
            <a:r>
              <a:rPr lang="zh-CN" altLang="en-US" sz="1100" dirty="0"/>
              <a:t>结果表明</a:t>
            </a:r>
            <a:r>
              <a:rPr lang="en-US" altLang="zh-CN" sz="1100" dirty="0"/>
              <a:t>,Le-TSVD</a:t>
            </a:r>
            <a:r>
              <a:rPr lang="zh-CN" altLang="en-US" sz="1100" dirty="0"/>
              <a:t>不仅能够提供高质量的图像重建</a:t>
            </a:r>
            <a:r>
              <a:rPr lang="en-US" altLang="zh-CN" sz="1100" dirty="0"/>
              <a:t>,</a:t>
            </a:r>
            <a:r>
              <a:rPr lang="zh-CN" altLang="en-US" sz="1100" dirty="0"/>
              <a:t>还能够极大地缩短计算时间</a:t>
            </a:r>
            <a:r>
              <a:rPr lang="en-US" altLang="zh-CN" sz="1100" dirty="0"/>
              <a:t>,</a:t>
            </a:r>
            <a:r>
              <a:rPr lang="zh-CN" altLang="en-US" sz="1100" dirty="0"/>
              <a:t>满足实时应用的需求。这使得</a:t>
            </a:r>
            <a:r>
              <a:rPr lang="en-US" altLang="zh-CN" sz="1100" dirty="0"/>
              <a:t>Le-TSVD</a:t>
            </a:r>
            <a:r>
              <a:rPr lang="zh-CN" altLang="en-US" sz="1100" dirty="0"/>
              <a:t>在实际应用中具有更高的实用性</a:t>
            </a:r>
            <a:r>
              <a:rPr lang="en-US" altLang="zh-CN" sz="1100" dirty="0"/>
              <a:t>,</a:t>
            </a:r>
            <a:r>
              <a:rPr lang="zh-CN" altLang="en-US" sz="1100" dirty="0"/>
              <a:t>尤其在需要快速响应的场景中</a:t>
            </a:r>
            <a:r>
              <a:rPr lang="en-US" altLang="zh-CN" sz="1100" dirty="0"/>
              <a:t>,Le-TSVD</a:t>
            </a:r>
            <a:r>
              <a:rPr lang="zh-CN" altLang="en-US" sz="1100" dirty="0"/>
              <a:t>的高效率表现尤为突出。综上所述</a:t>
            </a:r>
            <a:r>
              <a:rPr lang="en-US" altLang="zh-CN" sz="1100" dirty="0"/>
              <a:t>,Le-TSVD </a:t>
            </a:r>
            <a:r>
              <a:rPr lang="zh-CN" altLang="en-US" sz="1100" dirty="0"/>
              <a:t>算法在无镜头图像重建任务中通过在</a:t>
            </a:r>
            <a:r>
              <a:rPr lang="en-US" altLang="zh-CN" sz="1100" dirty="0"/>
              <a:t>PSNR</a:t>
            </a:r>
            <a:r>
              <a:rPr lang="zh-CN" altLang="en-US" sz="1100" dirty="0"/>
              <a:t>、</a:t>
            </a:r>
            <a:r>
              <a:rPr lang="en-US" altLang="zh-CN" sz="1100" dirty="0"/>
              <a:t>IFC</a:t>
            </a:r>
            <a:r>
              <a:rPr lang="zh-CN" altLang="en-US" sz="1100" dirty="0"/>
              <a:t>、</a:t>
            </a:r>
            <a:r>
              <a:rPr lang="en-US" altLang="zh-CN" sz="1100" dirty="0"/>
              <a:t>FSIM</a:t>
            </a:r>
            <a:r>
              <a:rPr lang="zh-CN" altLang="en-US" sz="1100" dirty="0"/>
              <a:t>等关键指标上的优异表现</a:t>
            </a:r>
            <a:r>
              <a:rPr lang="en-US" altLang="zh-CN" sz="1100" dirty="0"/>
              <a:t>,</a:t>
            </a:r>
            <a:r>
              <a:rPr lang="zh-CN" altLang="en-US" sz="1100" dirty="0"/>
              <a:t>结合其极短的运行时间</a:t>
            </a:r>
            <a:r>
              <a:rPr lang="en-US" altLang="zh-CN" sz="1100" dirty="0"/>
              <a:t>,</a:t>
            </a:r>
            <a:r>
              <a:rPr lang="zh-CN" altLang="en-US" sz="1100" dirty="0"/>
              <a:t>展示了其在图像重建质量和计算效率方面的全面优势。</a:t>
            </a:r>
            <a:endParaRPr lang="en-US" altLang="zh-CN" sz="1100" dirty="0"/>
          </a:p>
          <a:p>
            <a:pPr>
              <a:lnSpc>
                <a:spcPct val="125000"/>
              </a:lnSpc>
            </a:pPr>
            <a:r>
              <a:rPr lang="zh-CN" altLang="en-US" sz="1100" dirty="0"/>
              <a:t>为了评估 </a:t>
            </a:r>
            <a:r>
              <a:rPr lang="en-US" altLang="zh-CN" sz="1100"/>
              <a:t>Le-TSVD</a:t>
            </a:r>
            <a:r>
              <a:rPr lang="zh-CN" altLang="en-US" sz="1100"/>
              <a:t>算法</a:t>
            </a:r>
            <a:r>
              <a:rPr lang="zh-CN" altLang="en-US" sz="1100" dirty="0"/>
              <a:t>在不同成像距离下的通用性和适应性</a:t>
            </a:r>
            <a:r>
              <a:rPr lang="en-US" altLang="zh-CN" sz="1100" dirty="0"/>
              <a:t>,</a:t>
            </a:r>
            <a:r>
              <a:rPr lang="zh-CN" altLang="en-US" sz="1100" dirty="0"/>
              <a:t>文章进行了额外的一组实验</a:t>
            </a:r>
            <a:r>
              <a:rPr lang="en-US" altLang="zh-CN" sz="1100" dirty="0"/>
              <a:t>,</a:t>
            </a:r>
            <a:r>
              <a:rPr lang="zh-CN" altLang="en-US" sz="1100" dirty="0"/>
              <a:t>旨在验证 </a:t>
            </a:r>
            <a:r>
              <a:rPr lang="en-US" altLang="zh-CN" sz="1100" dirty="0"/>
              <a:t>Le-TSVD</a:t>
            </a:r>
            <a:r>
              <a:rPr lang="zh-CN" altLang="en-US" sz="1100" dirty="0"/>
              <a:t>算法在不同距离条件下的重建效果。此结果表明</a:t>
            </a:r>
            <a:r>
              <a:rPr lang="en-US" altLang="zh-CN" sz="1100" dirty="0"/>
              <a:t>,</a:t>
            </a:r>
            <a:r>
              <a:rPr lang="zh-CN" altLang="en-US" sz="1100" dirty="0"/>
              <a:t>成像距离接近进行标定实验及拍摄数据集实验的 </a:t>
            </a:r>
            <a:r>
              <a:rPr lang="en-US" altLang="zh-CN" sz="1100" dirty="0"/>
              <a:t>30cm </a:t>
            </a:r>
            <a:r>
              <a:rPr lang="zh-CN" altLang="en-US" sz="1100" dirty="0"/>
              <a:t>时</a:t>
            </a:r>
            <a:r>
              <a:rPr lang="en-US" altLang="zh-CN" sz="1100" dirty="0"/>
              <a:t>,</a:t>
            </a:r>
            <a:r>
              <a:rPr lang="zh-CN" altLang="en-US" sz="1100" dirty="0"/>
              <a:t>图像客观评价指标表现较好</a:t>
            </a:r>
            <a:r>
              <a:rPr lang="en-US" altLang="zh-CN" sz="1100" dirty="0"/>
              <a:t>,</a:t>
            </a:r>
            <a:r>
              <a:rPr lang="zh-CN" altLang="en-US" sz="1100" dirty="0"/>
              <a:t>但当成像距离缩短</a:t>
            </a:r>
            <a:r>
              <a:rPr lang="en-US" altLang="zh-CN" sz="1100" dirty="0"/>
              <a:t>5cm</a:t>
            </a:r>
            <a:r>
              <a:rPr lang="zh-CN" altLang="en-US" sz="1100" dirty="0"/>
              <a:t>以上或增加</a:t>
            </a:r>
            <a:r>
              <a:rPr lang="en-US" altLang="zh-CN" sz="1100" dirty="0"/>
              <a:t>15cm</a:t>
            </a:r>
            <a:r>
              <a:rPr lang="zh-CN" altLang="en-US" sz="1100" dirty="0"/>
              <a:t>以上时</a:t>
            </a:r>
            <a:r>
              <a:rPr lang="en-US" altLang="zh-CN" sz="1100" dirty="0"/>
              <a:t>,PSNR</a:t>
            </a:r>
            <a:r>
              <a:rPr lang="zh-CN" altLang="en-US" sz="1100" dirty="0"/>
              <a:t>及</a:t>
            </a:r>
            <a:r>
              <a:rPr lang="en-US" altLang="zh-CN" sz="1100" dirty="0"/>
              <a:t>SSIM</a:t>
            </a:r>
            <a:r>
              <a:rPr lang="zh-CN" altLang="en-US" sz="1100" dirty="0"/>
              <a:t>指标产生较明显的下降。</a:t>
            </a:r>
          </a:p>
        </p:txBody>
      </p:sp>
      <p:pic>
        <p:nvPicPr>
          <p:cNvPr id="9" name="图片 8">
            <a:extLst>
              <a:ext uri="{FF2B5EF4-FFF2-40B4-BE49-F238E27FC236}">
                <a16:creationId xmlns:a16="http://schemas.microsoft.com/office/drawing/2014/main" id="{370C3DBD-EDAA-47E9-965F-1B3823832F65}"/>
              </a:ext>
            </a:extLst>
          </p:cNvPr>
          <p:cNvPicPr>
            <a:picLocks noChangeAspect="1"/>
          </p:cNvPicPr>
          <p:nvPr/>
        </p:nvPicPr>
        <p:blipFill>
          <a:blip r:embed="rId2"/>
          <a:stretch>
            <a:fillRect/>
          </a:stretch>
        </p:blipFill>
        <p:spPr>
          <a:xfrm>
            <a:off x="1170139" y="4008207"/>
            <a:ext cx="5041960" cy="1550387"/>
          </a:xfrm>
          <a:prstGeom prst="rect">
            <a:avLst/>
          </a:prstGeom>
        </p:spPr>
      </p:pic>
      <p:pic>
        <p:nvPicPr>
          <p:cNvPr id="11" name="图片 10">
            <a:extLst>
              <a:ext uri="{FF2B5EF4-FFF2-40B4-BE49-F238E27FC236}">
                <a16:creationId xmlns:a16="http://schemas.microsoft.com/office/drawing/2014/main" id="{0A893A1A-82C0-4361-A802-AF98D179EE59}"/>
              </a:ext>
            </a:extLst>
          </p:cNvPr>
          <p:cNvPicPr>
            <a:picLocks noChangeAspect="1"/>
          </p:cNvPicPr>
          <p:nvPr/>
        </p:nvPicPr>
        <p:blipFill>
          <a:blip r:embed="rId3"/>
          <a:stretch>
            <a:fillRect/>
          </a:stretch>
        </p:blipFill>
        <p:spPr>
          <a:xfrm>
            <a:off x="7196375" y="3896899"/>
            <a:ext cx="4358886" cy="2615332"/>
          </a:xfrm>
          <a:prstGeom prst="rect">
            <a:avLst/>
          </a:prstGeom>
        </p:spPr>
      </p:pic>
    </p:spTree>
    <p:extLst>
      <p:ext uri="{BB962C8B-B14F-4D97-AF65-F5344CB8AC3E}">
        <p14:creationId xmlns:p14="http://schemas.microsoft.com/office/powerpoint/2010/main" val="5807992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5087D32-85A3-44A5-902F-B9AF6290B38B}"/>
              </a:ext>
            </a:extLst>
          </p:cNvPr>
          <p:cNvSpPr>
            <a:spLocks noGrp="1"/>
          </p:cNvSpPr>
          <p:nvPr>
            <p:ph type="title"/>
          </p:nvPr>
        </p:nvSpPr>
        <p:spPr>
          <a:xfrm>
            <a:off x="838200" y="365126"/>
            <a:ext cx="10515600" cy="849900"/>
          </a:xfrm>
        </p:spPr>
        <p:txBody>
          <a:bodyPr>
            <a:normAutofit/>
          </a:bodyPr>
          <a:lstStyle/>
          <a:p>
            <a:r>
              <a:rPr lang="zh-CN" altLang="en-US" sz="2400" dirty="0"/>
              <a:t>创新点</a:t>
            </a:r>
            <a:r>
              <a:rPr lang="en-US" altLang="zh-CN" sz="2400" dirty="0"/>
              <a:t>2</a:t>
            </a:r>
            <a:r>
              <a:rPr lang="zh-CN" altLang="en-US" sz="2400" dirty="0"/>
              <a:t>：基于生成对抗网络的无镜头图像重建方法</a:t>
            </a:r>
          </a:p>
        </p:txBody>
      </p:sp>
      <p:sp>
        <p:nvSpPr>
          <p:cNvPr id="3" name="内容占位符 2">
            <a:extLst>
              <a:ext uri="{FF2B5EF4-FFF2-40B4-BE49-F238E27FC236}">
                <a16:creationId xmlns:a16="http://schemas.microsoft.com/office/drawing/2014/main" id="{58777DAF-0243-4071-9707-F99001EE84FF}"/>
              </a:ext>
            </a:extLst>
          </p:cNvPr>
          <p:cNvSpPr>
            <a:spLocks noGrp="1"/>
          </p:cNvSpPr>
          <p:nvPr>
            <p:ph idx="1"/>
          </p:nvPr>
        </p:nvSpPr>
        <p:spPr/>
        <p:txBody>
          <a:bodyPr>
            <a:normAutofit/>
          </a:bodyPr>
          <a:lstStyle/>
          <a:p>
            <a:r>
              <a:rPr lang="zh-CN" altLang="en-US" sz="1100" dirty="0"/>
              <a:t>线性模型存在局限性：</a:t>
            </a:r>
            <a:r>
              <a:rPr lang="en-US" altLang="zh-CN" sz="1100" dirty="0"/>
              <a:t>Le-TSVD</a:t>
            </a:r>
            <a:r>
              <a:rPr lang="zh-CN" altLang="en-US" sz="1100" dirty="0"/>
              <a:t>虽然重建速度快，但无法恢复高频纹理，存在伪影。</a:t>
            </a:r>
          </a:p>
          <a:p>
            <a:r>
              <a:rPr lang="zh-CN" altLang="en-US" sz="1100" dirty="0"/>
              <a:t>为了应对未经任何后处理手段的直接输出图像往往质量较低，会出现细节模糊、噪声较多和结构失真等问题，文章对目前最常用于无镜头图像重建任务的深度学习模型 </a:t>
            </a:r>
            <a:r>
              <a:rPr lang="en-US" altLang="zh-CN" sz="1100" dirty="0"/>
              <a:t>U-Net </a:t>
            </a:r>
            <a:r>
              <a:rPr lang="zh-CN" altLang="en-US" sz="1100" dirty="0"/>
              <a:t>进行了系统性的模块化改进：为了增强网络的表征能力</a:t>
            </a:r>
            <a:r>
              <a:rPr lang="en-US" altLang="zh-CN" sz="1100" dirty="0"/>
              <a:t>,</a:t>
            </a:r>
            <a:r>
              <a:rPr lang="zh-CN" altLang="en-US" sz="1100" dirty="0"/>
              <a:t>引入了卷积块注意力模块</a:t>
            </a:r>
            <a:r>
              <a:rPr lang="en-US" altLang="zh-CN" sz="1100" dirty="0"/>
              <a:t>,</a:t>
            </a:r>
            <a:r>
              <a:rPr lang="zh-CN" altLang="en-US" sz="1100" dirty="0"/>
              <a:t>从而更有效地捕捉并突出图像中的关键细节。加入残差连接不仅提升了网络的训练稳定性</a:t>
            </a:r>
            <a:r>
              <a:rPr lang="en-US" altLang="zh-CN" sz="1100" dirty="0"/>
              <a:t>,</a:t>
            </a:r>
            <a:r>
              <a:rPr lang="zh-CN" altLang="en-US" sz="1100" dirty="0"/>
              <a:t>还显著改善了图像的重建质量</a:t>
            </a:r>
            <a:r>
              <a:rPr lang="en-US" altLang="zh-CN" sz="1100" dirty="0"/>
              <a:t>,</a:t>
            </a:r>
            <a:r>
              <a:rPr lang="zh-CN" altLang="en-US" sz="1100" dirty="0"/>
              <a:t>尤其是在保留图像细节和减少训练过程中梯度消失问题方面表现优异。进一步地</a:t>
            </a:r>
            <a:r>
              <a:rPr lang="en-US" altLang="zh-CN" sz="1100" dirty="0"/>
              <a:t>,</a:t>
            </a:r>
            <a:r>
              <a:rPr lang="zh-CN" altLang="en-US" sz="1100" dirty="0"/>
              <a:t>为了增强网络对图像局部和全局信息的理解能力</a:t>
            </a:r>
            <a:r>
              <a:rPr lang="en-US" altLang="zh-CN" sz="1100" dirty="0"/>
              <a:t>,</a:t>
            </a:r>
            <a:r>
              <a:rPr lang="zh-CN" altLang="en-US" sz="1100" dirty="0"/>
              <a:t>在网络结构中引入了金字塔池化模块。</a:t>
            </a:r>
            <a:endParaRPr lang="en-US" altLang="zh-CN" sz="1100" dirty="0"/>
          </a:p>
          <a:p>
            <a:r>
              <a:rPr lang="zh-CN" altLang="en-US" sz="1100" dirty="0"/>
              <a:t>卷积块注意力模块（</a:t>
            </a:r>
            <a:r>
              <a:rPr lang="en-US" altLang="zh-CN" sz="1100" dirty="0"/>
              <a:t>CBAM</a:t>
            </a:r>
            <a:r>
              <a:rPr lang="zh-CN" altLang="en-US" sz="1100" dirty="0"/>
              <a:t>）</a:t>
            </a:r>
            <a:endParaRPr lang="en-US" altLang="zh-CN" sz="1100" dirty="0"/>
          </a:p>
          <a:p>
            <a:r>
              <a:rPr lang="zh-CN" altLang="en-US" sz="1100" dirty="0"/>
              <a:t>残差连接</a:t>
            </a:r>
            <a:endParaRPr lang="en-US" altLang="zh-CN" sz="1100" dirty="0"/>
          </a:p>
          <a:p>
            <a:r>
              <a:rPr lang="zh-CN" altLang="en-US" sz="1100" dirty="0"/>
              <a:t>金字塔池化模块</a:t>
            </a:r>
            <a:endParaRPr lang="en-US" altLang="zh-CN" sz="1100" dirty="0"/>
          </a:p>
          <a:p>
            <a:r>
              <a:rPr lang="zh-CN" altLang="en-US" sz="1100" dirty="0"/>
              <a:t>最终得到</a:t>
            </a:r>
            <a:r>
              <a:rPr lang="en-US" altLang="zh-CN" sz="1100" dirty="0"/>
              <a:t>HA-</a:t>
            </a:r>
            <a:r>
              <a:rPr lang="en-US" altLang="zh-CN" sz="1100" dirty="0" err="1"/>
              <a:t>Unet</a:t>
            </a:r>
            <a:r>
              <a:rPr lang="zh-CN" altLang="en-US" sz="1100" dirty="0"/>
              <a:t>模型</a:t>
            </a:r>
          </a:p>
          <a:p>
            <a:r>
              <a:rPr lang="zh-CN" altLang="en-US" sz="1100" dirty="0"/>
              <a:t>另一方面</a:t>
            </a:r>
            <a:r>
              <a:rPr lang="en-US" altLang="zh-CN" sz="1100" dirty="0"/>
              <a:t>,</a:t>
            </a:r>
            <a:r>
              <a:rPr lang="zh-CN" altLang="en-US" sz="1100" dirty="0"/>
              <a:t>文章将改进后的卷积神经网络模型与生成对抗网络架构的</a:t>
            </a:r>
            <a:r>
              <a:rPr lang="en-US" altLang="zh-CN" sz="1100" dirty="0"/>
              <a:t>Pix2pix</a:t>
            </a:r>
            <a:r>
              <a:rPr lang="zh-CN" altLang="en-US" sz="1100" dirty="0"/>
              <a:t>模型相结合</a:t>
            </a:r>
            <a:r>
              <a:rPr lang="en-US" altLang="zh-CN" sz="1100" dirty="0"/>
              <a:t>,</a:t>
            </a:r>
            <a:r>
              <a:rPr lang="zh-CN" altLang="en-US" sz="1100" dirty="0"/>
              <a:t>探索通过对抗学习机制进一步提升重建图像的真实感和细节表现。在这一框架中</a:t>
            </a:r>
            <a:r>
              <a:rPr lang="en-US" altLang="zh-CN" sz="1100" dirty="0"/>
              <a:t>,</a:t>
            </a:r>
            <a:r>
              <a:rPr lang="zh-CN" altLang="en-US" sz="1100" dirty="0"/>
              <a:t>改进的卷积神经网络作为生成器</a:t>
            </a:r>
            <a:r>
              <a:rPr lang="en-US" altLang="zh-CN" sz="1100" dirty="0"/>
              <a:t>,</a:t>
            </a:r>
            <a:r>
              <a:rPr lang="zh-CN" altLang="en-US" sz="1100" dirty="0"/>
              <a:t>通过与判别器的对抗学习</a:t>
            </a:r>
            <a:r>
              <a:rPr lang="en-US" altLang="zh-CN" sz="1100" dirty="0"/>
              <a:t>,</a:t>
            </a:r>
            <a:r>
              <a:rPr lang="zh-CN" altLang="en-US" sz="1100" dirty="0"/>
              <a:t>使得重建图像在视觉质量上得到了显著提升</a:t>
            </a:r>
            <a:r>
              <a:rPr lang="en-US" altLang="zh-CN" sz="1100" dirty="0"/>
              <a:t>,  </a:t>
            </a:r>
            <a:r>
              <a:rPr lang="zh-CN" altLang="en-US" sz="1100" dirty="0"/>
              <a:t>无论是主观评价还是客观评价指标都表现出更优的结果。</a:t>
            </a:r>
            <a:endParaRPr lang="en-US" altLang="zh-CN" sz="1100" dirty="0"/>
          </a:p>
          <a:p>
            <a:r>
              <a:rPr lang="en-US" altLang="zh-CN" sz="1100" dirty="0"/>
              <a:t>Pix2pix</a:t>
            </a:r>
            <a:r>
              <a:rPr lang="zh-CN" altLang="en-US" sz="1100" dirty="0"/>
              <a:t>模型</a:t>
            </a:r>
            <a:endParaRPr lang="en-US" altLang="zh-CN" sz="1100" dirty="0"/>
          </a:p>
          <a:p>
            <a:endParaRPr lang="zh-CN" altLang="en-US" sz="1100" dirty="0"/>
          </a:p>
        </p:txBody>
      </p:sp>
    </p:spTree>
    <p:extLst>
      <p:ext uri="{BB962C8B-B14F-4D97-AF65-F5344CB8AC3E}">
        <p14:creationId xmlns:p14="http://schemas.microsoft.com/office/powerpoint/2010/main" val="36475701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F5468F-1031-4F81-957F-469410FE0833}"/>
              </a:ext>
            </a:extLst>
          </p:cNvPr>
          <p:cNvSpPr>
            <a:spLocks noGrp="1"/>
          </p:cNvSpPr>
          <p:nvPr>
            <p:ph type="title"/>
          </p:nvPr>
        </p:nvSpPr>
        <p:spPr>
          <a:xfrm>
            <a:off x="838200" y="365125"/>
            <a:ext cx="10515600" cy="831111"/>
          </a:xfrm>
        </p:spPr>
        <p:txBody>
          <a:bodyPr>
            <a:normAutofit/>
          </a:bodyPr>
          <a:lstStyle/>
          <a:p>
            <a:r>
              <a:rPr lang="zh-CN" altLang="en-US" sz="2400" dirty="0"/>
              <a:t>基于 </a:t>
            </a:r>
            <a:r>
              <a:rPr lang="en-US" altLang="zh-CN" sz="2400" dirty="0"/>
              <a:t>Pix2pix </a:t>
            </a:r>
            <a:r>
              <a:rPr lang="zh-CN" altLang="en-US" sz="2400" dirty="0"/>
              <a:t>模型和改进 </a:t>
            </a:r>
            <a:r>
              <a:rPr lang="en-US" altLang="zh-CN" sz="2400" dirty="0"/>
              <a:t>U-Net </a:t>
            </a:r>
            <a:r>
              <a:rPr lang="zh-CN" altLang="en-US" sz="2400" dirty="0"/>
              <a:t>的无镜头图像重建实验</a:t>
            </a:r>
            <a:br>
              <a:rPr lang="en-US" altLang="zh-CN" sz="2400" dirty="0"/>
            </a:br>
            <a:endParaRPr lang="zh-CN" altLang="en-US" sz="2400" dirty="0"/>
          </a:p>
        </p:txBody>
      </p:sp>
      <p:sp>
        <p:nvSpPr>
          <p:cNvPr id="3" name="内容占位符 2">
            <a:extLst>
              <a:ext uri="{FF2B5EF4-FFF2-40B4-BE49-F238E27FC236}">
                <a16:creationId xmlns:a16="http://schemas.microsoft.com/office/drawing/2014/main" id="{919ED9E9-EC83-4982-9D62-55A1B0AEBA41}"/>
              </a:ext>
            </a:extLst>
          </p:cNvPr>
          <p:cNvSpPr>
            <a:spLocks noGrp="1"/>
          </p:cNvSpPr>
          <p:nvPr>
            <p:ph idx="1"/>
          </p:nvPr>
        </p:nvSpPr>
        <p:spPr/>
        <p:txBody>
          <a:bodyPr>
            <a:normAutofit/>
          </a:bodyPr>
          <a:lstStyle/>
          <a:p>
            <a:r>
              <a:rPr lang="zh-CN" altLang="en-US" dirty="0"/>
              <a:t>实验数据集</a:t>
            </a:r>
            <a:endParaRPr lang="en-US" altLang="zh-CN" dirty="0"/>
          </a:p>
          <a:p>
            <a:r>
              <a:rPr lang="zh-CN" altLang="en-US" dirty="0"/>
              <a:t>消融实验结果和分析</a:t>
            </a:r>
            <a:endParaRPr lang="en-US" altLang="zh-CN" dirty="0"/>
          </a:p>
          <a:p>
            <a:r>
              <a:rPr lang="zh-CN" altLang="en-US" dirty="0"/>
              <a:t>对比实验结果和分析</a:t>
            </a:r>
            <a:endParaRPr lang="en-US" altLang="zh-CN" dirty="0"/>
          </a:p>
        </p:txBody>
      </p:sp>
      <p:pic>
        <p:nvPicPr>
          <p:cNvPr id="4" name="图片 3">
            <a:extLst>
              <a:ext uri="{FF2B5EF4-FFF2-40B4-BE49-F238E27FC236}">
                <a16:creationId xmlns:a16="http://schemas.microsoft.com/office/drawing/2014/main" id="{2F83744C-BD61-4CE7-9D5A-29CF9BAF3A7B}"/>
              </a:ext>
            </a:extLst>
          </p:cNvPr>
          <p:cNvPicPr>
            <a:picLocks noChangeAspect="1"/>
          </p:cNvPicPr>
          <p:nvPr/>
        </p:nvPicPr>
        <p:blipFill>
          <a:blip r:embed="rId2"/>
          <a:stretch>
            <a:fillRect/>
          </a:stretch>
        </p:blipFill>
        <p:spPr>
          <a:xfrm>
            <a:off x="8487329" y="3181611"/>
            <a:ext cx="3664295" cy="4014592"/>
          </a:xfrm>
          <a:prstGeom prst="rect">
            <a:avLst/>
          </a:prstGeom>
        </p:spPr>
      </p:pic>
      <p:pic>
        <p:nvPicPr>
          <p:cNvPr id="5" name="图片 4">
            <a:extLst>
              <a:ext uri="{FF2B5EF4-FFF2-40B4-BE49-F238E27FC236}">
                <a16:creationId xmlns:a16="http://schemas.microsoft.com/office/drawing/2014/main" id="{1D17D8D4-BFFF-40D3-847B-99EA089E84AB}"/>
              </a:ext>
            </a:extLst>
          </p:cNvPr>
          <p:cNvPicPr>
            <a:picLocks noChangeAspect="1"/>
          </p:cNvPicPr>
          <p:nvPr/>
        </p:nvPicPr>
        <p:blipFill>
          <a:blip r:embed="rId3"/>
          <a:stretch>
            <a:fillRect/>
          </a:stretch>
        </p:blipFill>
        <p:spPr>
          <a:xfrm>
            <a:off x="5008392" y="2972920"/>
            <a:ext cx="3322649" cy="2979519"/>
          </a:xfrm>
          <a:prstGeom prst="rect">
            <a:avLst/>
          </a:prstGeom>
        </p:spPr>
      </p:pic>
      <p:pic>
        <p:nvPicPr>
          <p:cNvPr id="6" name="图片 5">
            <a:extLst>
              <a:ext uri="{FF2B5EF4-FFF2-40B4-BE49-F238E27FC236}">
                <a16:creationId xmlns:a16="http://schemas.microsoft.com/office/drawing/2014/main" id="{E786EA53-802D-400F-B9BF-055D6605C4F5}"/>
              </a:ext>
            </a:extLst>
          </p:cNvPr>
          <p:cNvPicPr>
            <a:picLocks noChangeAspect="1"/>
          </p:cNvPicPr>
          <p:nvPr/>
        </p:nvPicPr>
        <p:blipFill>
          <a:blip r:embed="rId4"/>
          <a:stretch>
            <a:fillRect/>
          </a:stretch>
        </p:blipFill>
        <p:spPr>
          <a:xfrm>
            <a:off x="489644" y="3503296"/>
            <a:ext cx="3992911" cy="2673667"/>
          </a:xfrm>
          <a:prstGeom prst="rect">
            <a:avLst/>
          </a:prstGeom>
        </p:spPr>
      </p:pic>
    </p:spTree>
    <p:extLst>
      <p:ext uri="{BB962C8B-B14F-4D97-AF65-F5344CB8AC3E}">
        <p14:creationId xmlns:p14="http://schemas.microsoft.com/office/powerpoint/2010/main" val="20975982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70F31-3DD1-4333-B5BA-B3C36E091DAF}"/>
              </a:ext>
            </a:extLst>
          </p:cNvPr>
          <p:cNvSpPr>
            <a:spLocks noGrp="1"/>
          </p:cNvSpPr>
          <p:nvPr>
            <p:ph type="title"/>
          </p:nvPr>
        </p:nvSpPr>
        <p:spPr>
          <a:xfrm>
            <a:off x="838200" y="365125"/>
            <a:ext cx="10515600" cy="806059"/>
          </a:xfrm>
        </p:spPr>
        <p:txBody>
          <a:bodyPr>
            <a:normAutofit/>
          </a:bodyPr>
          <a:lstStyle/>
          <a:p>
            <a:r>
              <a:rPr lang="zh-CN" altLang="en-US" sz="2400" dirty="0"/>
              <a:t>创新点</a:t>
            </a:r>
            <a:r>
              <a:rPr lang="en-US" altLang="zh-CN" sz="2400" dirty="0"/>
              <a:t>3</a:t>
            </a:r>
            <a:r>
              <a:rPr lang="zh-CN" altLang="en-US" sz="2400" dirty="0"/>
              <a:t>：基于深度强化学习的无镜头图像重建模型优化方法</a:t>
            </a:r>
          </a:p>
        </p:txBody>
      </p:sp>
      <p:sp>
        <p:nvSpPr>
          <p:cNvPr id="3" name="内容占位符 2">
            <a:extLst>
              <a:ext uri="{FF2B5EF4-FFF2-40B4-BE49-F238E27FC236}">
                <a16:creationId xmlns:a16="http://schemas.microsoft.com/office/drawing/2014/main" id="{2E1BC2AD-89AD-448C-98B5-3785619574F8}"/>
              </a:ext>
            </a:extLst>
          </p:cNvPr>
          <p:cNvSpPr>
            <a:spLocks noGrp="1"/>
          </p:cNvSpPr>
          <p:nvPr>
            <p:ph idx="1"/>
          </p:nvPr>
        </p:nvSpPr>
        <p:spPr/>
        <p:txBody>
          <a:bodyPr>
            <a:normAutofit/>
          </a:bodyPr>
          <a:lstStyle/>
          <a:p>
            <a:r>
              <a:rPr lang="zh-CN" altLang="en-US" sz="1100" dirty="0"/>
              <a:t>问题</a:t>
            </a:r>
            <a:endParaRPr lang="en-US" altLang="zh-CN" sz="1100" dirty="0"/>
          </a:p>
          <a:p>
            <a:r>
              <a:rPr lang="zh-CN" altLang="en-US" sz="1100" dirty="0"/>
              <a:t>引言</a:t>
            </a:r>
            <a:endParaRPr lang="en-US" altLang="zh-CN" sz="1100" dirty="0"/>
          </a:p>
          <a:p>
            <a:r>
              <a:rPr lang="zh-CN" altLang="en-US" sz="1100" dirty="0"/>
              <a:t>马尔科夫决策模型（</a:t>
            </a:r>
            <a:r>
              <a:rPr lang="en-US" altLang="zh-CN" sz="1100" dirty="0"/>
              <a:t>MDP</a:t>
            </a:r>
            <a:r>
              <a:rPr lang="zh-CN" altLang="en-US" sz="1100" dirty="0"/>
              <a:t>）</a:t>
            </a:r>
            <a:endParaRPr lang="en-US" altLang="zh-CN" sz="1100" dirty="0"/>
          </a:p>
          <a:p>
            <a:r>
              <a:rPr lang="zh-CN" altLang="en-US" sz="1100" dirty="0"/>
              <a:t>强化学习方法</a:t>
            </a:r>
            <a:endParaRPr lang="en-US" altLang="zh-CN" sz="1100" dirty="0"/>
          </a:p>
          <a:p>
            <a:r>
              <a:rPr lang="zh-CN" altLang="en-US" sz="1100" dirty="0"/>
              <a:t>策略优化算法</a:t>
            </a:r>
            <a:endParaRPr lang="en-US" altLang="zh-CN" sz="1100" dirty="0"/>
          </a:p>
          <a:p>
            <a:r>
              <a:rPr lang="en-US" altLang="zh-CN" sz="1100" dirty="0"/>
              <a:t>DQN</a:t>
            </a:r>
            <a:endParaRPr lang="zh-CN" altLang="en-US" sz="1100" dirty="0"/>
          </a:p>
        </p:txBody>
      </p:sp>
    </p:spTree>
    <p:extLst>
      <p:ext uri="{BB962C8B-B14F-4D97-AF65-F5344CB8AC3E}">
        <p14:creationId xmlns:p14="http://schemas.microsoft.com/office/powerpoint/2010/main" val="34194397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EDE99F-96BC-4557-BFC5-861166A17750}"/>
              </a:ext>
            </a:extLst>
          </p:cNvPr>
          <p:cNvSpPr>
            <a:spLocks noGrp="1"/>
          </p:cNvSpPr>
          <p:nvPr>
            <p:ph type="title"/>
          </p:nvPr>
        </p:nvSpPr>
        <p:spPr>
          <a:xfrm>
            <a:off x="838200" y="365126"/>
            <a:ext cx="10515600" cy="837374"/>
          </a:xfrm>
        </p:spPr>
        <p:txBody>
          <a:bodyPr>
            <a:normAutofit/>
          </a:bodyPr>
          <a:lstStyle/>
          <a:p>
            <a:r>
              <a:rPr lang="zh-CN" altLang="en-US" sz="2400" dirty="0"/>
              <a:t>基于深度强化学习的无镜头图像重建模型优化方法</a:t>
            </a:r>
          </a:p>
        </p:txBody>
      </p:sp>
      <p:sp>
        <p:nvSpPr>
          <p:cNvPr id="3" name="内容占位符 2">
            <a:extLst>
              <a:ext uri="{FF2B5EF4-FFF2-40B4-BE49-F238E27FC236}">
                <a16:creationId xmlns:a16="http://schemas.microsoft.com/office/drawing/2014/main" id="{8AAFB0D8-31F9-4FF6-9595-80D8583220A3}"/>
              </a:ext>
            </a:extLst>
          </p:cNvPr>
          <p:cNvSpPr>
            <a:spLocks noGrp="1"/>
          </p:cNvSpPr>
          <p:nvPr>
            <p:ph idx="1"/>
          </p:nvPr>
        </p:nvSpPr>
        <p:spPr/>
        <p:txBody>
          <a:bodyPr>
            <a:normAutofit/>
          </a:bodyPr>
          <a:lstStyle/>
          <a:p>
            <a:r>
              <a:rPr lang="zh-CN" altLang="en-US" sz="1100" dirty="0"/>
              <a:t>动作空间</a:t>
            </a:r>
            <a:endParaRPr lang="en-US" altLang="zh-CN" sz="1100" dirty="0"/>
          </a:p>
          <a:p>
            <a:r>
              <a:rPr lang="en-US" altLang="zh-CN" sz="1100" dirty="0" err="1"/>
              <a:t>UNet</a:t>
            </a:r>
            <a:r>
              <a:rPr lang="zh-CN" altLang="en-US" sz="1100" dirty="0"/>
              <a:t>加深网络和加宽网络对比试验</a:t>
            </a:r>
            <a:endParaRPr lang="en-US" altLang="zh-CN" sz="1100" dirty="0"/>
          </a:p>
          <a:p>
            <a:r>
              <a:rPr lang="zh-CN" altLang="en-US" sz="1100" dirty="0"/>
              <a:t>损失函数权重对比实验</a:t>
            </a:r>
            <a:endParaRPr lang="en-US" altLang="zh-CN" sz="1100" dirty="0"/>
          </a:p>
          <a:p>
            <a:r>
              <a:rPr lang="en-US" altLang="zh-CN" sz="1100" dirty="0"/>
              <a:t>FCFD</a:t>
            </a:r>
            <a:r>
              <a:rPr lang="zh-CN" altLang="en-US" sz="1100" dirty="0"/>
              <a:t>数据集表现对比实验结果与分析</a:t>
            </a:r>
          </a:p>
        </p:txBody>
      </p:sp>
    </p:spTree>
    <p:extLst>
      <p:ext uri="{BB962C8B-B14F-4D97-AF65-F5344CB8AC3E}">
        <p14:creationId xmlns:p14="http://schemas.microsoft.com/office/powerpoint/2010/main" val="39269338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6086479-0454-4934-9F2E-9F5CA597371A}"/>
              </a:ext>
            </a:extLst>
          </p:cNvPr>
          <p:cNvSpPr>
            <a:spLocks noGrp="1"/>
          </p:cNvSpPr>
          <p:nvPr>
            <p:ph type="title"/>
          </p:nvPr>
        </p:nvSpPr>
        <p:spPr/>
        <p:txBody>
          <a:bodyPr>
            <a:normAutofit/>
          </a:bodyPr>
          <a:lstStyle/>
          <a:p>
            <a:r>
              <a:rPr lang="zh-CN" altLang="en-US" sz="2400" dirty="0"/>
              <a:t>应用：基于无镜头成像系统的人脸识别方法研究</a:t>
            </a:r>
          </a:p>
        </p:txBody>
      </p:sp>
      <p:sp>
        <p:nvSpPr>
          <p:cNvPr id="3" name="内容占位符 2">
            <a:extLst>
              <a:ext uri="{FF2B5EF4-FFF2-40B4-BE49-F238E27FC236}">
                <a16:creationId xmlns:a16="http://schemas.microsoft.com/office/drawing/2014/main" id="{F6DB2813-BE69-40E7-AC1A-F210908269D2}"/>
              </a:ext>
            </a:extLst>
          </p:cNvPr>
          <p:cNvSpPr>
            <a:spLocks noGrp="1"/>
          </p:cNvSpPr>
          <p:nvPr>
            <p:ph idx="1"/>
          </p:nvPr>
        </p:nvSpPr>
        <p:spPr/>
        <p:txBody>
          <a:bodyPr>
            <a:normAutofit/>
          </a:bodyPr>
          <a:lstStyle/>
          <a:p>
            <a:r>
              <a:rPr lang="en-US" altLang="zh-CN" sz="1100" dirty="0"/>
              <a:t>1. </a:t>
            </a:r>
            <a:r>
              <a:rPr lang="zh-CN" altLang="en-US" sz="1100" dirty="0"/>
              <a:t>核心思想：</a:t>
            </a:r>
            <a:r>
              <a:rPr lang="en-US" altLang="zh-CN" sz="1100" dirty="0"/>
              <a:t>Privacy-Preserving</a:t>
            </a:r>
          </a:p>
          <a:p>
            <a:r>
              <a:rPr lang="en-US" altLang="zh-CN" sz="1100" dirty="0"/>
              <a:t>   ? </a:t>
            </a:r>
            <a:r>
              <a:rPr lang="zh-CN" altLang="en-US" sz="1100" dirty="0"/>
              <a:t>利用人眼不可见的传感器 </a:t>
            </a:r>
            <a:r>
              <a:rPr lang="en-US" altLang="zh-CN" sz="1100" dirty="0"/>
              <a:t>Raw Data </a:t>
            </a:r>
            <a:r>
              <a:rPr lang="zh-CN" altLang="en-US" sz="1100" dirty="0"/>
              <a:t>直接识别，物理层保护隐私。</a:t>
            </a:r>
          </a:p>
          <a:p>
            <a:endParaRPr lang="zh-CN" altLang="en-US" sz="1100" dirty="0"/>
          </a:p>
          <a:p>
            <a:r>
              <a:rPr lang="en-US" altLang="zh-CN" sz="1100" dirty="0"/>
              <a:t>2. </a:t>
            </a:r>
            <a:r>
              <a:rPr lang="zh-CN" altLang="en-US" sz="1100" dirty="0"/>
              <a:t>方法：</a:t>
            </a:r>
            <a:r>
              <a:rPr lang="en-US" altLang="zh-CN" sz="1100" dirty="0"/>
              <a:t>Stacking </a:t>
            </a:r>
            <a:r>
              <a:rPr lang="zh-CN" altLang="en-US" sz="1100" dirty="0"/>
              <a:t>集成学习</a:t>
            </a:r>
          </a:p>
          <a:p>
            <a:r>
              <a:rPr lang="zh-CN" altLang="en-US" sz="1100" dirty="0"/>
              <a:t>   </a:t>
            </a:r>
            <a:r>
              <a:rPr lang="en-US" altLang="zh-CN" sz="1100" dirty="0"/>
              <a:t>? VGG16</a:t>
            </a:r>
            <a:r>
              <a:rPr lang="zh-CN" altLang="en-US" sz="1100" dirty="0"/>
              <a:t>：提取局部特征。</a:t>
            </a:r>
          </a:p>
          <a:p>
            <a:r>
              <a:rPr lang="zh-CN" altLang="en-US" sz="1100" dirty="0"/>
              <a:t>   </a:t>
            </a:r>
            <a:r>
              <a:rPr lang="en-US" altLang="zh-CN" sz="1100" dirty="0"/>
              <a:t>? Vision Transformer (</a:t>
            </a:r>
            <a:r>
              <a:rPr lang="en-US" altLang="zh-CN" sz="1100" dirty="0" err="1"/>
              <a:t>ViT</a:t>
            </a:r>
            <a:r>
              <a:rPr lang="en-US" altLang="zh-CN" sz="1100" dirty="0"/>
              <a:t>)</a:t>
            </a:r>
            <a:r>
              <a:rPr lang="zh-CN" altLang="en-US" sz="1100" dirty="0"/>
              <a:t>：利用 </a:t>
            </a:r>
            <a:r>
              <a:rPr lang="en-US" altLang="zh-CN" sz="1100" dirty="0"/>
              <a:t>Attention </a:t>
            </a:r>
            <a:r>
              <a:rPr lang="zh-CN" altLang="en-US" sz="1100" dirty="0"/>
              <a:t>提取全局关联（适应散斑信号）。</a:t>
            </a:r>
          </a:p>
          <a:p>
            <a:endParaRPr lang="zh-CN" altLang="en-US" sz="1100" dirty="0"/>
          </a:p>
          <a:p>
            <a:r>
              <a:rPr lang="en-US" altLang="zh-CN" sz="1100" dirty="0"/>
              <a:t>3. </a:t>
            </a:r>
            <a:r>
              <a:rPr lang="zh-CN" altLang="en-US" sz="1100" dirty="0"/>
              <a:t>结果：</a:t>
            </a:r>
          </a:p>
          <a:p>
            <a:r>
              <a:rPr lang="zh-CN" altLang="en-US" sz="1100" dirty="0"/>
              <a:t>   </a:t>
            </a:r>
            <a:r>
              <a:rPr lang="en-US" altLang="zh-CN" sz="1100" dirty="0"/>
              <a:t>? </a:t>
            </a:r>
            <a:r>
              <a:rPr lang="zh-CN" altLang="en-US" sz="1100" dirty="0"/>
              <a:t>准确率 </a:t>
            </a:r>
            <a:r>
              <a:rPr lang="en-US" altLang="zh-CN" sz="1100" dirty="0"/>
              <a:t>83.1%</a:t>
            </a:r>
            <a:r>
              <a:rPr lang="zh-CN" altLang="en-US" sz="1100" dirty="0"/>
              <a:t>，证明了无镜头图像中蕴含丰富的语义信息。</a:t>
            </a:r>
          </a:p>
        </p:txBody>
      </p:sp>
    </p:spTree>
    <p:extLst>
      <p:ext uri="{BB962C8B-B14F-4D97-AF65-F5344CB8AC3E}">
        <p14:creationId xmlns:p14="http://schemas.microsoft.com/office/powerpoint/2010/main" val="14340756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5C4118-208C-4335-A235-88C0D6735B59}"/>
              </a:ext>
            </a:extLst>
          </p:cNvPr>
          <p:cNvSpPr>
            <a:spLocks noGrp="1"/>
          </p:cNvSpPr>
          <p:nvPr>
            <p:ph type="title"/>
          </p:nvPr>
        </p:nvSpPr>
        <p:spPr/>
        <p:txBody>
          <a:bodyPr/>
          <a:lstStyle/>
          <a:p>
            <a:r>
              <a:rPr lang="zh-CN" altLang="en-US"/>
              <a:t>批判性思考与局限性分析</a:t>
            </a:r>
          </a:p>
        </p:txBody>
      </p:sp>
      <p:sp>
        <p:nvSpPr>
          <p:cNvPr id="3" name="内容占位符 2">
            <a:extLst>
              <a:ext uri="{FF2B5EF4-FFF2-40B4-BE49-F238E27FC236}">
                <a16:creationId xmlns:a16="http://schemas.microsoft.com/office/drawing/2014/main" id="{1E40901E-673D-4BE8-9B00-BD732DE4DEA4}"/>
              </a:ext>
            </a:extLst>
          </p:cNvPr>
          <p:cNvSpPr>
            <a:spLocks noGrp="1"/>
          </p:cNvSpPr>
          <p:nvPr>
            <p:ph idx="1"/>
          </p:nvPr>
        </p:nvSpPr>
        <p:spPr/>
        <p:txBody>
          <a:bodyPr>
            <a:normAutofit fontScale="92500" lnSpcReduction="10000"/>
          </a:bodyPr>
          <a:lstStyle/>
          <a:p>
            <a:r>
              <a:rPr lang="en-US" altLang="zh-CN"/>
              <a:t>1. </a:t>
            </a:r>
            <a:r>
              <a:rPr lang="zh-CN" altLang="en-US"/>
              <a:t>硬件依赖性：</a:t>
            </a:r>
          </a:p>
          <a:p>
            <a:r>
              <a:rPr lang="zh-CN" altLang="en-US"/>
              <a:t>   </a:t>
            </a:r>
            <a:r>
              <a:rPr lang="en-US" altLang="zh-CN"/>
              <a:t>? Le-TSVD </a:t>
            </a:r>
            <a:r>
              <a:rPr lang="zh-CN" altLang="en-US"/>
              <a:t>强依赖可分离掩模，难以直接迁移到随机掩模系统（如 </a:t>
            </a:r>
            <a:r>
              <a:rPr lang="en-US" altLang="zh-CN"/>
              <a:t>DiffuserCam</a:t>
            </a:r>
            <a:r>
              <a:rPr lang="zh-CN" altLang="en-US"/>
              <a:t>）。</a:t>
            </a:r>
          </a:p>
          <a:p>
            <a:endParaRPr lang="zh-CN" altLang="en-US"/>
          </a:p>
          <a:p>
            <a:r>
              <a:rPr lang="en-US" altLang="zh-CN"/>
              <a:t>2. </a:t>
            </a:r>
            <a:r>
              <a:rPr lang="zh-CN" altLang="en-US"/>
              <a:t>训练成本：</a:t>
            </a:r>
          </a:p>
          <a:p>
            <a:r>
              <a:rPr lang="zh-CN" altLang="en-US"/>
              <a:t>   </a:t>
            </a:r>
            <a:r>
              <a:rPr lang="en-US" altLang="zh-CN"/>
              <a:t>? DRL </a:t>
            </a:r>
            <a:r>
              <a:rPr lang="zh-CN" altLang="en-US"/>
              <a:t>优化过程需要反复训练网络以获取 </a:t>
            </a:r>
            <a:r>
              <a:rPr lang="en-US" altLang="zh-CN"/>
              <a:t>Reward</a:t>
            </a:r>
            <a:r>
              <a:rPr lang="zh-CN" altLang="en-US"/>
              <a:t>，计算资源消耗巨大。</a:t>
            </a:r>
          </a:p>
          <a:p>
            <a:endParaRPr lang="zh-CN" altLang="en-US"/>
          </a:p>
          <a:p>
            <a:r>
              <a:rPr lang="en-US" altLang="zh-CN"/>
              <a:t>3. </a:t>
            </a:r>
            <a:r>
              <a:rPr lang="zh-CN" altLang="en-US"/>
              <a:t>应用落地：</a:t>
            </a:r>
          </a:p>
          <a:p>
            <a:r>
              <a:rPr lang="zh-CN" altLang="en-US"/>
              <a:t>   </a:t>
            </a:r>
            <a:r>
              <a:rPr lang="en-US" altLang="zh-CN"/>
              <a:t>? </a:t>
            </a:r>
            <a:r>
              <a:rPr lang="zh-CN" altLang="en-US"/>
              <a:t>无重建识别准确率 </a:t>
            </a:r>
            <a:r>
              <a:rPr lang="en-US" altLang="zh-CN"/>
              <a:t>(83%) </a:t>
            </a:r>
            <a:r>
              <a:rPr lang="zh-CN" altLang="en-US"/>
              <a:t>距离安防商用标准 </a:t>
            </a:r>
            <a:r>
              <a:rPr lang="en-US" altLang="zh-CN"/>
              <a:t>(&gt;99%) </a:t>
            </a:r>
            <a:r>
              <a:rPr lang="zh-CN" altLang="en-US"/>
              <a:t>仍有差距。</a:t>
            </a:r>
          </a:p>
        </p:txBody>
      </p:sp>
    </p:spTree>
    <p:extLst>
      <p:ext uri="{BB962C8B-B14F-4D97-AF65-F5344CB8AC3E}">
        <p14:creationId xmlns:p14="http://schemas.microsoft.com/office/powerpoint/2010/main" val="16076911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5F52F4A-8954-43A1-A8A0-83230E257D23}"/>
              </a:ext>
            </a:extLst>
          </p:cNvPr>
          <p:cNvSpPr>
            <a:spLocks noGrp="1"/>
          </p:cNvSpPr>
          <p:nvPr>
            <p:ph type="title"/>
          </p:nvPr>
        </p:nvSpPr>
        <p:spPr/>
        <p:txBody>
          <a:bodyPr/>
          <a:lstStyle/>
          <a:p>
            <a:r>
              <a:rPr lang="zh-CN" altLang="en-US"/>
              <a:t>总结与对课题组的启示</a:t>
            </a:r>
          </a:p>
        </p:txBody>
      </p:sp>
      <p:sp>
        <p:nvSpPr>
          <p:cNvPr id="3" name="内容占位符 2">
            <a:extLst>
              <a:ext uri="{FF2B5EF4-FFF2-40B4-BE49-F238E27FC236}">
                <a16:creationId xmlns:a16="http://schemas.microsoft.com/office/drawing/2014/main" id="{5422B1DE-DC20-44B5-B190-848FAE657650}"/>
              </a:ext>
            </a:extLst>
          </p:cNvPr>
          <p:cNvSpPr>
            <a:spLocks noGrp="1"/>
          </p:cNvSpPr>
          <p:nvPr>
            <p:ph idx="1"/>
          </p:nvPr>
        </p:nvSpPr>
        <p:spPr/>
        <p:txBody>
          <a:bodyPr/>
          <a:lstStyle/>
          <a:p>
            <a:r>
              <a:rPr lang="en-US" altLang="zh-CN"/>
              <a:t>1. </a:t>
            </a:r>
            <a:r>
              <a:rPr lang="zh-CN" altLang="en-US"/>
              <a:t>全文总结：</a:t>
            </a:r>
          </a:p>
          <a:p>
            <a:r>
              <a:rPr lang="zh-CN" altLang="en-US"/>
              <a:t>   </a:t>
            </a:r>
            <a:r>
              <a:rPr lang="en-US" altLang="zh-CN"/>
              <a:t>? </a:t>
            </a:r>
            <a:r>
              <a:rPr lang="zh-CN" altLang="en-US"/>
              <a:t>实现了从底层物理模型到上层应用的全链路创新。</a:t>
            </a:r>
          </a:p>
          <a:p>
            <a:r>
              <a:rPr lang="zh-CN" altLang="en-US"/>
              <a:t>   </a:t>
            </a:r>
            <a:r>
              <a:rPr lang="en-US" altLang="zh-CN"/>
              <a:t>? </a:t>
            </a:r>
            <a:r>
              <a:rPr lang="zh-CN" altLang="en-US"/>
              <a:t>解决了速度（数学方法）与质量（深度学习）的矛盾。</a:t>
            </a:r>
          </a:p>
          <a:p>
            <a:endParaRPr lang="zh-CN" altLang="en-US"/>
          </a:p>
          <a:p>
            <a:r>
              <a:rPr lang="en-US" altLang="zh-CN"/>
              <a:t>2. </a:t>
            </a:r>
            <a:r>
              <a:rPr lang="zh-CN" altLang="en-US"/>
              <a:t>科研启示：</a:t>
            </a:r>
          </a:p>
          <a:p>
            <a:r>
              <a:rPr lang="zh-CN" altLang="en-US"/>
              <a:t>   </a:t>
            </a:r>
            <a:r>
              <a:rPr lang="en-US" altLang="zh-CN"/>
              <a:t>? </a:t>
            </a:r>
            <a:r>
              <a:rPr lang="zh-CN" altLang="en-US"/>
              <a:t>物理先验 </a:t>
            </a:r>
            <a:r>
              <a:rPr lang="en-US" altLang="zh-CN"/>
              <a:t>+ </a:t>
            </a:r>
            <a:r>
              <a:rPr lang="zh-CN" altLang="en-US"/>
              <a:t>深度学习：利用物理模型初始化网络，比纯黑盒更有效。</a:t>
            </a:r>
          </a:p>
          <a:p>
            <a:r>
              <a:rPr lang="zh-CN" altLang="en-US"/>
              <a:t>   </a:t>
            </a:r>
            <a:r>
              <a:rPr lang="en-US" altLang="zh-CN"/>
              <a:t>? </a:t>
            </a:r>
            <a:r>
              <a:rPr lang="zh-CN" altLang="en-US"/>
              <a:t>任务导向设计：针对信号特性（如全局散斑）选择架构（如 </a:t>
            </a:r>
            <a:r>
              <a:rPr lang="en-US" altLang="zh-CN"/>
              <a:t>ViT/Attention</a:t>
            </a:r>
            <a:r>
              <a:rPr lang="zh-CN" altLang="en-US"/>
              <a:t>），而非盲目堆砌模块。</a:t>
            </a:r>
          </a:p>
        </p:txBody>
      </p:sp>
    </p:spTree>
    <p:extLst>
      <p:ext uri="{BB962C8B-B14F-4D97-AF65-F5344CB8AC3E}">
        <p14:creationId xmlns:p14="http://schemas.microsoft.com/office/powerpoint/2010/main" val="375388747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OPFI" val=""/>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91</TotalTime>
  <Words>1799</Words>
  <Application>Microsoft Office PowerPoint</Application>
  <PresentationFormat>宽屏</PresentationFormat>
  <Paragraphs>79</Paragraphs>
  <Slides>11</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11</vt:i4>
      </vt:variant>
    </vt:vector>
  </HeadingPairs>
  <TitlesOfParts>
    <vt:vector size="16" baseType="lpstr">
      <vt:lpstr>等线</vt:lpstr>
      <vt:lpstr>等线 Light</vt:lpstr>
      <vt:lpstr>Arial</vt:lpstr>
      <vt:lpstr>Cambria Math</vt:lpstr>
      <vt:lpstr>Office 主题​​</vt:lpstr>
      <vt:lpstr>基于深度学习的无镜头成像与图像重建技术研究</vt:lpstr>
      <vt:lpstr>核心背景：为何要研究无镜头成像</vt:lpstr>
      <vt:lpstr>创新点1：基于可分离编码掩模的无镜头快速成像算法</vt:lpstr>
      <vt:lpstr>基于 Le-TSVD 算法的无镜头图像重建实验</vt:lpstr>
      <vt:lpstr>创新点2：基于生成对抗网络的无镜头图像重建方法</vt:lpstr>
      <vt:lpstr>基于 Pix2pix 模型和改进 U-Net 的无镜头图像重建实验 </vt:lpstr>
      <vt:lpstr>创新点3：基于深度强化学习的无镜头图像重建模型优化方法</vt:lpstr>
      <vt:lpstr>基于深度强化学习的无镜头图像重建模型优化方法</vt:lpstr>
      <vt:lpstr>应用：基于无镜头成像系统的人脸识别方法研究</vt:lpstr>
      <vt:lpstr>批判性思考与局限性分析</vt:lpstr>
      <vt:lpstr>总结与对课题组的启示</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基于深度学习的无镜头成像与图像重建技术研究</dc:title>
  <dc:creator>明昊 王</dc:creator>
  <cp:lastModifiedBy>明昊 王</cp:lastModifiedBy>
  <cp:revision>16</cp:revision>
  <dcterms:created xsi:type="dcterms:W3CDTF">2025-12-17T01:57:31Z</dcterms:created>
  <dcterms:modified xsi:type="dcterms:W3CDTF">2025-12-17T09:28:11Z</dcterms:modified>
</cp:coreProperties>
</file>